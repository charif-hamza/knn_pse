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753600" cy="7315200"/>
  <p:notesSz cx="6858000" cy="9144000"/>
  <p:embeddedFontLst>
    <p:embeddedFont>
      <p:font typeface="Calibri (MS) Bold" charset="1" panose="020F0702030404030204"/>
      <p:regular r:id="rId20"/>
    </p:embeddedFont>
    <p:embeddedFont>
      <p:font typeface="Calibri (MS)" charset="1" panose="020F050202020403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1F1F"/>
        </a:solidFill>
      </p:bgPr>
    </p:bg>
    <p:spTree>
      <p:nvGrpSpPr>
        <p:cNvPr id="1" name=""/>
        <p:cNvGrpSpPr/>
        <p:nvPr/>
      </p:nvGrpSpPr>
      <p:grpSpPr>
        <a:xfrm>
          <a:off x="0" y="0"/>
          <a:ext cx="0" cy="0"/>
          <a:chOff x="0" y="0"/>
          <a:chExt cx="0" cy="0"/>
        </a:xfrm>
      </p:grpSpPr>
      <p:sp>
        <p:nvSpPr>
          <p:cNvPr name="TextBox 2" id="2"/>
          <p:cNvSpPr txBox="true"/>
          <p:nvPr/>
        </p:nvSpPr>
        <p:spPr>
          <a:xfrm rot="0">
            <a:off x="1066800" y="2388870"/>
            <a:ext cx="7620000" cy="1466850"/>
          </a:xfrm>
          <a:prstGeom prst="rect">
            <a:avLst/>
          </a:prstGeom>
        </p:spPr>
        <p:txBody>
          <a:bodyPr anchor="t" rtlCol="false" tIns="0" lIns="0" bIns="0" rIns="0">
            <a:spAutoFit/>
          </a:bodyPr>
          <a:lstStyle/>
          <a:p>
            <a:pPr algn="ctr">
              <a:lnSpc>
                <a:spcPts val="5120"/>
              </a:lnSpc>
            </a:pPr>
            <a:r>
              <a:rPr lang="en-US" sz="4266" b="true">
                <a:solidFill>
                  <a:srgbClr val="FFFFFF"/>
                </a:solidFill>
                <a:latin typeface="Calibri (MS) Bold"/>
                <a:ea typeface="Calibri (MS) Bold"/>
                <a:cs typeface="Calibri (MS) Bold"/>
                <a:sym typeface="Calibri (MS) Bold"/>
              </a:rPr>
              <a:t>Classification KNN pour la Détection de Défauts</a:t>
            </a:r>
          </a:p>
        </p:txBody>
      </p:sp>
      <p:sp>
        <p:nvSpPr>
          <p:cNvPr name="TextBox 3" id="3"/>
          <p:cNvSpPr txBox="true"/>
          <p:nvPr/>
        </p:nvSpPr>
        <p:spPr>
          <a:xfrm rot="0">
            <a:off x="1066800" y="4094607"/>
            <a:ext cx="7620000" cy="428625"/>
          </a:xfrm>
          <a:prstGeom prst="rect">
            <a:avLst/>
          </a:prstGeom>
        </p:spPr>
        <p:txBody>
          <a:bodyPr anchor="t" rtlCol="false" tIns="0" lIns="0" bIns="0" rIns="0">
            <a:spAutoFit/>
          </a:bodyPr>
          <a:lstStyle/>
          <a:p>
            <a:pPr algn="ctr">
              <a:lnSpc>
                <a:spcPts val="3071"/>
              </a:lnSpc>
            </a:pPr>
            <a:r>
              <a:rPr lang="en-US" sz="2559">
                <a:solidFill>
                  <a:srgbClr val="C8C8C8"/>
                </a:solidFill>
                <a:latin typeface="Calibri (MS)"/>
                <a:ea typeface="Calibri (MS)"/>
                <a:cs typeface="Calibri (MS)"/>
                <a:sym typeface="Calibri (MS)"/>
              </a:rPr>
              <a:t>Réacteurs parfaitement agitée chauffée (RPAC)</a:t>
            </a:r>
          </a:p>
        </p:txBody>
      </p:sp>
      <p:grpSp>
        <p:nvGrpSpPr>
          <p:cNvPr name="Group 4" id="4"/>
          <p:cNvGrpSpPr>
            <a:grpSpLocks noChangeAspect="true"/>
          </p:cNvGrpSpPr>
          <p:nvPr/>
        </p:nvGrpSpPr>
        <p:grpSpPr>
          <a:xfrm rot="0">
            <a:off x="8290560" y="195072"/>
            <a:ext cx="1206633" cy="1206633"/>
            <a:chOff x="0" y="0"/>
            <a:chExt cx="1040384" cy="1040384"/>
          </a:xfrm>
        </p:grpSpPr>
        <p:sp>
          <p:nvSpPr>
            <p:cNvPr name="Freeform 5" id="5" descr="company_logo.png"/>
            <p:cNvSpPr/>
            <p:nvPr/>
          </p:nvSpPr>
          <p:spPr>
            <a:xfrm flipH="false" flipV="false" rot="0">
              <a:off x="0" y="0"/>
              <a:ext cx="1040384" cy="1040384"/>
            </a:xfrm>
            <a:custGeom>
              <a:avLst/>
              <a:gdLst/>
              <a:ahLst/>
              <a:cxnLst/>
              <a:rect r="r" b="b" t="t" l="l"/>
              <a:pathLst>
                <a:path h="1040384" w="1040384">
                  <a:moveTo>
                    <a:pt x="0" y="0"/>
                  </a:moveTo>
                  <a:lnTo>
                    <a:pt x="1040384" y="0"/>
                  </a:lnTo>
                  <a:lnTo>
                    <a:pt x="1040384" y="1040384"/>
                  </a:lnTo>
                  <a:lnTo>
                    <a:pt x="0" y="1040384"/>
                  </a:lnTo>
                  <a:lnTo>
                    <a:pt x="0" y="0"/>
                  </a:lnTo>
                  <a:close/>
                </a:path>
              </a:pathLst>
            </a:custGeom>
            <a:blipFill>
              <a:blip r:embed="rId2"/>
              <a:stretch>
                <a:fillRect l="0" t="0" r="0" b="0"/>
              </a:stretch>
            </a:blipFill>
          </p:spPr>
        </p:sp>
      </p:grpSp>
      <p:sp>
        <p:nvSpPr>
          <p:cNvPr name="TextBox 6" id="6"/>
          <p:cNvSpPr txBox="true"/>
          <p:nvPr/>
        </p:nvSpPr>
        <p:spPr>
          <a:xfrm rot="0">
            <a:off x="3564470" y="6059805"/>
            <a:ext cx="2624660" cy="809625"/>
          </a:xfrm>
          <a:prstGeom prst="rect">
            <a:avLst/>
          </a:prstGeom>
        </p:spPr>
        <p:txBody>
          <a:bodyPr anchor="t" rtlCol="false" tIns="0" lIns="0" bIns="0" rIns="0">
            <a:spAutoFit/>
          </a:bodyPr>
          <a:lstStyle/>
          <a:p>
            <a:pPr algn="ctr">
              <a:lnSpc>
                <a:spcPts val="3071"/>
              </a:lnSpc>
            </a:pPr>
            <a:r>
              <a:rPr lang="en-US" sz="2559">
                <a:solidFill>
                  <a:srgbClr val="C8C8C8"/>
                </a:solidFill>
                <a:latin typeface="Calibri (MS)"/>
                <a:ea typeface="Calibri (MS)"/>
                <a:cs typeface="Calibri (MS)"/>
                <a:sym typeface="Calibri (MS)"/>
              </a:rPr>
              <a:t>Charif Hamza</a:t>
            </a:r>
          </a:p>
          <a:p>
            <a:pPr algn="ctr">
              <a:lnSpc>
                <a:spcPts val="3071"/>
              </a:lnSpc>
            </a:pPr>
            <a:r>
              <a:rPr lang="en-US" sz="2559">
                <a:solidFill>
                  <a:srgbClr val="C8C8C8"/>
                </a:solidFill>
                <a:latin typeface="Calibri (MS)"/>
                <a:ea typeface="Calibri (MS)"/>
                <a:cs typeface="Calibri (MS)"/>
                <a:sym typeface="Calibri (MS)"/>
              </a:rPr>
              <a:t>Bouzndag Youssef</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Plan de Présentation</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sp>
        <p:nvSpPr>
          <p:cNvPr name="TextBox 4" id="4"/>
          <p:cNvSpPr txBox="true"/>
          <p:nvPr/>
        </p:nvSpPr>
        <p:spPr>
          <a:xfrm rot="0">
            <a:off x="579120" y="1852540"/>
            <a:ext cx="8570709" cy="4532099"/>
          </a:xfrm>
          <a:prstGeom prst="rect">
            <a:avLst/>
          </a:prstGeom>
        </p:spPr>
        <p:txBody>
          <a:bodyPr anchor="t" rtlCol="false" tIns="0" lIns="0" bIns="0" rIns="0">
            <a:spAutoFit/>
          </a:bodyPr>
          <a:lstStyle/>
          <a:p>
            <a:pPr algn="l">
              <a:lnSpc>
                <a:spcPts val="3225"/>
              </a:lnSpc>
            </a:pPr>
            <a:r>
              <a:rPr lang="en-US" sz="2687">
                <a:solidFill>
                  <a:srgbClr val="404040"/>
                </a:solidFill>
                <a:latin typeface="Calibri (MS)"/>
                <a:ea typeface="Calibri (MS)"/>
                <a:cs typeface="Calibri (MS)"/>
                <a:sym typeface="Calibri (MS)"/>
              </a:rPr>
              <a:t>📊 Introduction &amp; Contexte Industriel</a:t>
            </a:r>
          </a:p>
          <a:p>
            <a:pPr algn="l">
              <a:lnSpc>
                <a:spcPts val="3225"/>
              </a:lnSpc>
            </a:pPr>
          </a:p>
          <a:p>
            <a:pPr algn="l">
              <a:lnSpc>
                <a:spcPts val="3225"/>
              </a:lnSpc>
            </a:pPr>
            <a:r>
              <a:rPr lang="en-US" sz="2687">
                <a:solidFill>
                  <a:srgbClr val="404040"/>
                </a:solidFill>
                <a:latin typeface="Calibri (MS)"/>
                <a:ea typeface="Calibri (MS)"/>
                <a:cs typeface="Calibri (MS)"/>
                <a:sym typeface="Calibri (MS)"/>
              </a:rPr>
              <a:t>🔬 Dataset RPAC &amp; Méthodologie KNN</a:t>
            </a:r>
          </a:p>
          <a:p>
            <a:pPr algn="l">
              <a:lnSpc>
                <a:spcPts val="3225"/>
              </a:lnSpc>
            </a:pPr>
          </a:p>
          <a:p>
            <a:pPr algn="l">
              <a:lnSpc>
                <a:spcPts val="3225"/>
              </a:lnSpc>
            </a:pPr>
            <a:r>
              <a:rPr lang="en-US" sz="2687">
                <a:solidFill>
                  <a:srgbClr val="404040"/>
                </a:solidFill>
                <a:latin typeface="Calibri (MS)"/>
                <a:ea typeface="Calibri (MS)"/>
                <a:cs typeface="Calibri (MS)"/>
                <a:sym typeface="Calibri (MS)"/>
              </a:rPr>
              <a:t>⚙️ Recherche d'Hyperparamètres &amp; Optimisation</a:t>
            </a:r>
          </a:p>
          <a:p>
            <a:pPr algn="l">
              <a:lnSpc>
                <a:spcPts val="3225"/>
              </a:lnSpc>
            </a:pPr>
          </a:p>
          <a:p>
            <a:pPr algn="l">
              <a:lnSpc>
                <a:spcPts val="3225"/>
              </a:lnSpc>
            </a:pPr>
            <a:r>
              <a:rPr lang="en-US" sz="2687">
                <a:solidFill>
                  <a:srgbClr val="404040"/>
                </a:solidFill>
                <a:latin typeface="Calibri (MS)"/>
                <a:ea typeface="Calibri (MS)"/>
                <a:cs typeface="Calibri (MS)"/>
                <a:sym typeface="Calibri (MS)"/>
              </a:rPr>
              <a:t>📈 Résultats Finaux &amp; Analyse des Performances</a:t>
            </a:r>
          </a:p>
          <a:p>
            <a:pPr algn="l">
              <a:lnSpc>
                <a:spcPts val="3225"/>
              </a:lnSpc>
            </a:pPr>
          </a:p>
          <a:p>
            <a:pPr algn="l">
              <a:lnSpc>
                <a:spcPts val="3225"/>
              </a:lnSpc>
            </a:pPr>
            <a:r>
              <a:rPr lang="en-US" sz="2687">
                <a:solidFill>
                  <a:srgbClr val="404040"/>
                </a:solidFill>
                <a:latin typeface="Calibri (MS)"/>
                <a:ea typeface="Calibri (MS)"/>
                <a:cs typeface="Calibri (MS)"/>
                <a:sym typeface="Calibri (MS)"/>
              </a:rPr>
              <a:t>🔍 Analyse des Erreurs &amp; Impact du Prétraitement</a:t>
            </a:r>
          </a:p>
          <a:p>
            <a:pPr algn="l">
              <a:lnSpc>
                <a:spcPts val="3225"/>
              </a:lnSpc>
            </a:pPr>
          </a:p>
          <a:p>
            <a:pPr algn="l">
              <a:lnSpc>
                <a:spcPts val="3225"/>
              </a:lnSpc>
            </a:pPr>
            <a:r>
              <a:rPr lang="en-US" sz="2687">
                <a:solidFill>
                  <a:srgbClr val="404040"/>
                </a:solidFill>
                <a:latin typeface="Calibri (MS)"/>
                <a:ea typeface="Calibri (MS)"/>
                <a:cs typeface="Calibri (MS)"/>
                <a:sym typeface="Calibri (MS)"/>
              </a:rPr>
              <a:t>💡 Conclusions &amp; Perspectives d'Amélioration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Contexte : Détection de Défauts Industriels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759968" y="1735328"/>
            <a:ext cx="8233664" cy="1360293"/>
            <a:chOff x="0" y="0"/>
            <a:chExt cx="10978219" cy="1813724"/>
          </a:xfrm>
        </p:grpSpPr>
        <p:sp>
          <p:nvSpPr>
            <p:cNvPr name="Freeform 5" id="5"/>
            <p:cNvSpPr/>
            <p:nvPr/>
          </p:nvSpPr>
          <p:spPr>
            <a:xfrm flipH="false" flipV="false" rot="0">
              <a:off x="27051" y="30384"/>
              <a:ext cx="10924160" cy="1752860"/>
            </a:xfrm>
            <a:custGeom>
              <a:avLst/>
              <a:gdLst/>
              <a:ahLst/>
              <a:cxnLst/>
              <a:rect r="r" b="b" t="t" l="l"/>
              <a:pathLst>
                <a:path h="1752860" w="10924160">
                  <a:moveTo>
                    <a:pt x="0" y="292143"/>
                  </a:moveTo>
                  <a:cubicBezTo>
                    <a:pt x="0" y="130808"/>
                    <a:pt x="119888" y="0"/>
                    <a:pt x="267843" y="0"/>
                  </a:cubicBezTo>
                  <a:lnTo>
                    <a:pt x="10656316" y="0"/>
                  </a:lnTo>
                  <a:cubicBezTo>
                    <a:pt x="10804272" y="0"/>
                    <a:pt x="10924160" y="130808"/>
                    <a:pt x="10924160" y="292143"/>
                  </a:cubicBezTo>
                  <a:lnTo>
                    <a:pt x="10924160" y="1460717"/>
                  </a:lnTo>
                  <a:cubicBezTo>
                    <a:pt x="10924160" y="1622052"/>
                    <a:pt x="10804272" y="1752860"/>
                    <a:pt x="10656316" y="1752860"/>
                  </a:cubicBezTo>
                  <a:lnTo>
                    <a:pt x="267843" y="1752860"/>
                  </a:lnTo>
                  <a:cubicBezTo>
                    <a:pt x="119888" y="1752860"/>
                    <a:pt x="0" y="1622052"/>
                    <a:pt x="0" y="1460717"/>
                  </a:cubicBezTo>
                  <a:close/>
                </a:path>
              </a:pathLst>
            </a:custGeom>
            <a:solidFill>
              <a:srgbClr val="F2F2F2"/>
            </a:solidFill>
          </p:spPr>
        </p:sp>
        <p:sp>
          <p:nvSpPr>
            <p:cNvPr name="Freeform 6" id="6"/>
            <p:cNvSpPr/>
            <p:nvPr/>
          </p:nvSpPr>
          <p:spPr>
            <a:xfrm flipH="false" flipV="false" rot="0">
              <a:off x="0" y="0"/>
              <a:ext cx="10978261" cy="1813766"/>
            </a:xfrm>
            <a:custGeom>
              <a:avLst/>
              <a:gdLst/>
              <a:ahLst/>
              <a:cxnLst/>
              <a:rect r="r" b="b" t="t" l="l"/>
              <a:pathLst>
                <a:path h="1813766" w="10978261">
                  <a:moveTo>
                    <a:pt x="0" y="322527"/>
                  </a:moveTo>
                  <a:cubicBezTo>
                    <a:pt x="0" y="143647"/>
                    <a:pt x="132842" y="0"/>
                    <a:pt x="294894" y="0"/>
                  </a:cubicBezTo>
                  <a:lnTo>
                    <a:pt x="10683367" y="0"/>
                  </a:lnTo>
                  <a:lnTo>
                    <a:pt x="10683367" y="30384"/>
                  </a:lnTo>
                  <a:lnTo>
                    <a:pt x="10683367" y="0"/>
                  </a:lnTo>
                  <a:cubicBezTo>
                    <a:pt x="10845547" y="0"/>
                    <a:pt x="10978261" y="143647"/>
                    <a:pt x="10978261" y="322527"/>
                  </a:cubicBezTo>
                  <a:lnTo>
                    <a:pt x="10951211" y="322527"/>
                  </a:lnTo>
                  <a:lnTo>
                    <a:pt x="10978261" y="322527"/>
                  </a:lnTo>
                  <a:lnTo>
                    <a:pt x="10978261" y="1491101"/>
                  </a:lnTo>
                  <a:lnTo>
                    <a:pt x="10951211" y="1491101"/>
                  </a:lnTo>
                  <a:lnTo>
                    <a:pt x="10978261" y="1491101"/>
                  </a:lnTo>
                  <a:cubicBezTo>
                    <a:pt x="10978261" y="1670124"/>
                    <a:pt x="10845419" y="1813628"/>
                    <a:pt x="10683367" y="1813628"/>
                  </a:cubicBezTo>
                  <a:lnTo>
                    <a:pt x="10683367" y="1783244"/>
                  </a:lnTo>
                  <a:lnTo>
                    <a:pt x="10683367" y="1813628"/>
                  </a:lnTo>
                  <a:lnTo>
                    <a:pt x="294894" y="1813628"/>
                  </a:lnTo>
                  <a:lnTo>
                    <a:pt x="294894" y="1783244"/>
                  </a:lnTo>
                  <a:lnTo>
                    <a:pt x="294894" y="1813628"/>
                  </a:lnTo>
                  <a:cubicBezTo>
                    <a:pt x="132842" y="1813766"/>
                    <a:pt x="0" y="1670124"/>
                    <a:pt x="0" y="1491101"/>
                  </a:cubicBezTo>
                  <a:lnTo>
                    <a:pt x="0" y="322527"/>
                  </a:lnTo>
                  <a:lnTo>
                    <a:pt x="27051" y="322527"/>
                  </a:lnTo>
                  <a:lnTo>
                    <a:pt x="0" y="322527"/>
                  </a:lnTo>
                  <a:moveTo>
                    <a:pt x="54229" y="322527"/>
                  </a:moveTo>
                  <a:lnTo>
                    <a:pt x="54229" y="1491101"/>
                  </a:lnTo>
                  <a:lnTo>
                    <a:pt x="27051" y="1491101"/>
                  </a:lnTo>
                  <a:lnTo>
                    <a:pt x="54229" y="1491101"/>
                  </a:lnTo>
                  <a:cubicBezTo>
                    <a:pt x="54229" y="1634748"/>
                    <a:pt x="161290" y="1752860"/>
                    <a:pt x="294894" y="1752860"/>
                  </a:cubicBezTo>
                  <a:lnTo>
                    <a:pt x="10683367" y="1752860"/>
                  </a:lnTo>
                  <a:cubicBezTo>
                    <a:pt x="10817099" y="1752860"/>
                    <a:pt x="10924032" y="1634890"/>
                    <a:pt x="10924032" y="1491101"/>
                  </a:cubicBezTo>
                  <a:lnTo>
                    <a:pt x="10924032" y="322527"/>
                  </a:lnTo>
                  <a:cubicBezTo>
                    <a:pt x="10924032" y="178881"/>
                    <a:pt x="10816972" y="60768"/>
                    <a:pt x="10683367" y="60768"/>
                  </a:cubicBezTo>
                  <a:lnTo>
                    <a:pt x="294894" y="60768"/>
                  </a:lnTo>
                  <a:lnTo>
                    <a:pt x="294894" y="30384"/>
                  </a:lnTo>
                  <a:lnTo>
                    <a:pt x="294894" y="60911"/>
                  </a:lnTo>
                  <a:cubicBezTo>
                    <a:pt x="161163" y="60911"/>
                    <a:pt x="54229" y="178881"/>
                    <a:pt x="54229" y="322670"/>
                  </a:cubicBezTo>
                  <a:close/>
                </a:path>
              </a:pathLst>
            </a:custGeom>
            <a:solidFill>
              <a:srgbClr val="00B0F0"/>
            </a:solidFill>
          </p:spPr>
        </p:sp>
      </p:grpSp>
      <p:sp>
        <p:nvSpPr>
          <p:cNvPr name="TextBox 7" id="7"/>
          <p:cNvSpPr txBox="true"/>
          <p:nvPr/>
        </p:nvSpPr>
        <p:spPr>
          <a:xfrm rot="0">
            <a:off x="1066800" y="1860804"/>
            <a:ext cx="7620000" cy="1066800"/>
          </a:xfrm>
          <a:prstGeom prst="rect">
            <a:avLst/>
          </a:prstGeom>
        </p:spPr>
        <p:txBody>
          <a:bodyPr anchor="t" rtlCol="false" tIns="0" lIns="0" bIns="0" rIns="0">
            <a:spAutoFit/>
          </a:bodyPr>
          <a:lstStyle/>
          <a:p>
            <a:pPr algn="l">
              <a:lnSpc>
                <a:spcPts val="2047"/>
              </a:lnSpc>
            </a:pPr>
            <a:r>
              <a:rPr lang="en-US" sz="1706">
                <a:solidFill>
                  <a:srgbClr val="404040"/>
                </a:solidFill>
                <a:latin typeface="Calibri (MS)"/>
                <a:ea typeface="Calibri (MS)"/>
                <a:cs typeface="Calibri (MS)"/>
                <a:sym typeface="Calibri (MS)"/>
              </a:rPr>
              <a:t>La détection automatique de défauts dans les systèmes industriels est cruciale pour la maintenance prédictive et la prévention des pannes. Le système RPAC présente des défis uniques en raison de la complexité des séries temporelles et de la nécessité d'une détection en temps réel.</a:t>
            </a:r>
          </a:p>
        </p:txBody>
      </p:sp>
      <p:sp>
        <p:nvSpPr>
          <p:cNvPr name="TextBox 8" id="8"/>
          <p:cNvSpPr txBox="true"/>
          <p:nvPr/>
        </p:nvSpPr>
        <p:spPr>
          <a:xfrm rot="0">
            <a:off x="1066800" y="3216783"/>
            <a:ext cx="8107680" cy="3190875"/>
          </a:xfrm>
          <a:prstGeom prst="rect">
            <a:avLst/>
          </a:prstGeom>
        </p:spPr>
        <p:txBody>
          <a:bodyPr anchor="t" rtlCol="false" tIns="0" lIns="0" bIns="0" rIns="0">
            <a:spAutoFit/>
          </a:bodyPr>
          <a:lstStyle/>
          <a:p>
            <a:pPr algn="l">
              <a:lnSpc>
                <a:spcPts val="2304"/>
              </a:lnSpc>
            </a:pPr>
            <a:r>
              <a:rPr lang="en-US" sz="1920">
                <a:solidFill>
                  <a:srgbClr val="404040"/>
                </a:solidFill>
                <a:latin typeface="Calibri (MS)"/>
                <a:ea typeface="Calibri (MS)"/>
                <a:cs typeface="Calibri (MS)"/>
                <a:sym typeface="Calibri (MS)"/>
              </a:rPr>
              <a:t>🎯 Objectif : Détecter automatiquement les défauts instrumentaux avec &gt;80% de précision</a:t>
            </a:r>
          </a:p>
          <a:p>
            <a:pPr algn="l">
              <a:lnSpc>
                <a:spcPts val="2304"/>
              </a:lnSpc>
            </a:pPr>
          </a:p>
          <a:p>
            <a:pPr algn="l">
              <a:lnSpc>
                <a:spcPts val="2304"/>
              </a:lnSpc>
            </a:pPr>
            <a:r>
              <a:rPr lang="en-US" sz="1920">
                <a:solidFill>
                  <a:srgbClr val="404040"/>
                </a:solidFill>
                <a:latin typeface="Calibri (MS)"/>
                <a:ea typeface="Calibri (MS)"/>
                <a:cs typeface="Calibri (MS)"/>
                <a:sym typeface="Calibri (MS)"/>
              </a:rPr>
              <a:t>⚡ Application : Maintenance prédictive et surveillance temps réel</a:t>
            </a:r>
          </a:p>
          <a:p>
            <a:pPr algn="l">
              <a:lnSpc>
                <a:spcPts val="2304"/>
              </a:lnSpc>
            </a:pPr>
          </a:p>
          <a:p>
            <a:pPr algn="l">
              <a:lnSpc>
                <a:spcPts val="2304"/>
              </a:lnSpc>
            </a:pPr>
            <a:r>
              <a:rPr lang="en-US" sz="1920">
                <a:solidFill>
                  <a:srgbClr val="404040"/>
                </a:solidFill>
                <a:latin typeface="Calibri (MS)"/>
                <a:ea typeface="Calibri (MS)"/>
                <a:cs typeface="Calibri (MS)"/>
                <a:sym typeface="Calibri (MS)"/>
              </a:rPr>
              <a:t>🤖 Approche : Classification supervisée par K-plus proches voisins (KNN)</a:t>
            </a:r>
          </a:p>
          <a:p>
            <a:pPr algn="l">
              <a:lnSpc>
                <a:spcPts val="2304"/>
              </a:lnSpc>
            </a:pPr>
          </a:p>
          <a:p>
            <a:pPr algn="l">
              <a:lnSpc>
                <a:spcPts val="2304"/>
              </a:lnSpc>
            </a:pPr>
            <a:r>
              <a:rPr lang="en-US" sz="1920">
                <a:solidFill>
                  <a:srgbClr val="404040"/>
                </a:solidFill>
                <a:latin typeface="Calibri (MS)"/>
                <a:ea typeface="Calibri (MS)"/>
                <a:cs typeface="Calibri (MS)"/>
                <a:sym typeface="Calibri (MS)"/>
              </a:rPr>
              <a:t>📊 Données : 9000 séries temporelles du système RPAC (600 features/échantillon)</a:t>
            </a:r>
          </a:p>
          <a:p>
            <a:pPr algn="l">
              <a:lnSpc>
                <a:spcPts val="2304"/>
              </a:lnSpc>
            </a:pPr>
          </a:p>
          <a:p>
            <a:pPr algn="l">
              <a:lnSpc>
                <a:spcPts val="2304"/>
              </a:lnSpc>
            </a:pPr>
            <a:r>
              <a:rPr lang="en-US" sz="1920">
                <a:solidFill>
                  <a:srgbClr val="404040"/>
                </a:solidFill>
                <a:latin typeface="Calibri (MS)"/>
                <a:ea typeface="Calibri (MS)"/>
                <a:cs typeface="Calibri (MS)"/>
                <a:sym typeface="Calibri (MS)"/>
              </a:rPr>
              <a:t>✅ Enjeu : Équilibrer détection (Recall) et fiabilité (Precision) des alarmes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Dataset CSTH - Caractéristiques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970280" y="1555496"/>
            <a:ext cx="7813040" cy="887984"/>
            <a:chOff x="0" y="0"/>
            <a:chExt cx="10417387" cy="1183979"/>
          </a:xfrm>
        </p:grpSpPr>
        <p:sp>
          <p:nvSpPr>
            <p:cNvPr name="Freeform 5" id="5"/>
            <p:cNvSpPr/>
            <p:nvPr/>
          </p:nvSpPr>
          <p:spPr>
            <a:xfrm flipH="false" flipV="false" rot="0">
              <a:off x="6731" y="6731"/>
              <a:ext cx="10403967" cy="1170432"/>
            </a:xfrm>
            <a:custGeom>
              <a:avLst/>
              <a:gdLst/>
              <a:ahLst/>
              <a:cxnLst/>
              <a:rect r="r" b="b" t="t" l="l"/>
              <a:pathLst>
                <a:path h="1170432" w="10403967">
                  <a:moveTo>
                    <a:pt x="0" y="195072"/>
                  </a:moveTo>
                  <a:cubicBezTo>
                    <a:pt x="0" y="87376"/>
                    <a:pt x="88265" y="0"/>
                    <a:pt x="197104" y="0"/>
                  </a:cubicBezTo>
                  <a:lnTo>
                    <a:pt x="10206863" y="0"/>
                  </a:lnTo>
                  <a:cubicBezTo>
                    <a:pt x="10315702" y="0"/>
                    <a:pt x="10403967" y="87376"/>
                    <a:pt x="10403967" y="195072"/>
                  </a:cubicBezTo>
                  <a:lnTo>
                    <a:pt x="10403967" y="975360"/>
                  </a:lnTo>
                  <a:cubicBezTo>
                    <a:pt x="10403967" y="1083056"/>
                    <a:pt x="10315702" y="1170432"/>
                    <a:pt x="10206863" y="1170432"/>
                  </a:cubicBezTo>
                  <a:lnTo>
                    <a:pt x="197104" y="1170432"/>
                  </a:lnTo>
                  <a:cubicBezTo>
                    <a:pt x="88265" y="1170432"/>
                    <a:pt x="0" y="1083183"/>
                    <a:pt x="0" y="975360"/>
                  </a:cubicBezTo>
                  <a:close/>
                </a:path>
              </a:pathLst>
            </a:custGeom>
            <a:solidFill>
              <a:srgbClr val="333333"/>
            </a:solidFill>
          </p:spPr>
        </p:sp>
        <p:sp>
          <p:nvSpPr>
            <p:cNvPr name="Freeform 6" id="6"/>
            <p:cNvSpPr/>
            <p:nvPr/>
          </p:nvSpPr>
          <p:spPr>
            <a:xfrm flipH="false" flipV="false" rot="0">
              <a:off x="0" y="0"/>
              <a:ext cx="10417428" cy="1184021"/>
            </a:xfrm>
            <a:custGeom>
              <a:avLst/>
              <a:gdLst/>
              <a:ahLst/>
              <a:cxnLst/>
              <a:rect r="r" b="b" t="t" l="l"/>
              <a:pathLst>
                <a:path h="1184021" w="10417428">
                  <a:moveTo>
                    <a:pt x="0" y="201803"/>
                  </a:moveTo>
                  <a:cubicBezTo>
                    <a:pt x="0" y="90297"/>
                    <a:pt x="91313" y="0"/>
                    <a:pt x="203835" y="0"/>
                  </a:cubicBezTo>
                  <a:lnTo>
                    <a:pt x="10213594" y="0"/>
                  </a:lnTo>
                  <a:lnTo>
                    <a:pt x="10213594" y="6731"/>
                  </a:lnTo>
                  <a:lnTo>
                    <a:pt x="10213594" y="0"/>
                  </a:lnTo>
                  <a:cubicBezTo>
                    <a:pt x="10326115" y="0"/>
                    <a:pt x="10417428" y="90297"/>
                    <a:pt x="10417428" y="201803"/>
                  </a:cubicBezTo>
                  <a:lnTo>
                    <a:pt x="10410698" y="201803"/>
                  </a:lnTo>
                  <a:lnTo>
                    <a:pt x="10417428" y="201803"/>
                  </a:lnTo>
                  <a:lnTo>
                    <a:pt x="10417428" y="982091"/>
                  </a:lnTo>
                  <a:lnTo>
                    <a:pt x="10410698" y="982091"/>
                  </a:lnTo>
                  <a:lnTo>
                    <a:pt x="10417428" y="982091"/>
                  </a:lnTo>
                  <a:cubicBezTo>
                    <a:pt x="10417428" y="1093597"/>
                    <a:pt x="10326115" y="1183894"/>
                    <a:pt x="10213594" y="1183894"/>
                  </a:cubicBezTo>
                  <a:lnTo>
                    <a:pt x="10213594" y="1177163"/>
                  </a:lnTo>
                  <a:lnTo>
                    <a:pt x="10213594" y="1183894"/>
                  </a:lnTo>
                  <a:lnTo>
                    <a:pt x="203835" y="1183894"/>
                  </a:lnTo>
                  <a:lnTo>
                    <a:pt x="203835" y="1177163"/>
                  </a:lnTo>
                  <a:lnTo>
                    <a:pt x="203835" y="1183894"/>
                  </a:lnTo>
                  <a:cubicBezTo>
                    <a:pt x="91313" y="1184021"/>
                    <a:pt x="0" y="1093724"/>
                    <a:pt x="0" y="982091"/>
                  </a:cubicBezTo>
                  <a:lnTo>
                    <a:pt x="0" y="201803"/>
                  </a:lnTo>
                  <a:lnTo>
                    <a:pt x="6731" y="201803"/>
                  </a:lnTo>
                  <a:lnTo>
                    <a:pt x="0" y="201803"/>
                  </a:lnTo>
                  <a:moveTo>
                    <a:pt x="13589" y="201803"/>
                  </a:moveTo>
                  <a:lnTo>
                    <a:pt x="13589" y="982091"/>
                  </a:lnTo>
                  <a:lnTo>
                    <a:pt x="6731" y="982091"/>
                  </a:lnTo>
                  <a:lnTo>
                    <a:pt x="13462" y="982091"/>
                  </a:lnTo>
                  <a:cubicBezTo>
                    <a:pt x="13462" y="1085977"/>
                    <a:pt x="98552" y="1170432"/>
                    <a:pt x="203708" y="1170432"/>
                  </a:cubicBezTo>
                  <a:lnTo>
                    <a:pt x="10213594" y="1170432"/>
                  </a:lnTo>
                  <a:cubicBezTo>
                    <a:pt x="10318750" y="1170432"/>
                    <a:pt x="10403839" y="1086104"/>
                    <a:pt x="10403839" y="982091"/>
                  </a:cubicBezTo>
                  <a:lnTo>
                    <a:pt x="10403839" y="201803"/>
                  </a:lnTo>
                  <a:cubicBezTo>
                    <a:pt x="10403839" y="97917"/>
                    <a:pt x="10318750" y="13462"/>
                    <a:pt x="10213594" y="13462"/>
                  </a:cubicBezTo>
                  <a:lnTo>
                    <a:pt x="203835" y="13462"/>
                  </a:lnTo>
                  <a:lnTo>
                    <a:pt x="203835" y="6731"/>
                  </a:lnTo>
                  <a:lnTo>
                    <a:pt x="203835" y="13462"/>
                  </a:lnTo>
                  <a:cubicBezTo>
                    <a:pt x="98679" y="13589"/>
                    <a:pt x="13589" y="97917"/>
                    <a:pt x="13589" y="201803"/>
                  </a:cubicBezTo>
                  <a:close/>
                </a:path>
              </a:pathLst>
            </a:custGeom>
            <a:solidFill>
              <a:srgbClr val="4A7EBB"/>
            </a:solidFill>
          </p:spPr>
        </p:sp>
      </p:grpSp>
      <p:sp>
        <p:nvSpPr>
          <p:cNvPr name="TextBox 7" id="7"/>
          <p:cNvSpPr txBox="true"/>
          <p:nvPr/>
        </p:nvSpPr>
        <p:spPr>
          <a:xfrm rot="0">
            <a:off x="1261872" y="1665732"/>
            <a:ext cx="7229856" cy="552450"/>
          </a:xfrm>
          <a:prstGeom prst="rect">
            <a:avLst/>
          </a:prstGeom>
        </p:spPr>
        <p:txBody>
          <a:bodyPr anchor="t" rtlCol="false" tIns="0" lIns="0" bIns="0" rIns="0">
            <a:spAutoFit/>
          </a:bodyPr>
          <a:lstStyle/>
          <a:p>
            <a:pPr algn="ctr">
              <a:lnSpc>
                <a:spcPts val="2047"/>
              </a:lnSpc>
            </a:pPr>
            <a:r>
              <a:rPr lang="en-US" sz="1706" b="true">
                <a:solidFill>
                  <a:srgbClr val="FFFFFF"/>
                </a:solidFill>
                <a:latin typeface="Calibri (MS) Bold"/>
                <a:ea typeface="Calibri (MS) Bold"/>
                <a:cs typeface="Calibri (MS) Bold"/>
                <a:sym typeface="Calibri (MS) Bold"/>
              </a:rPr>
              <a:t>Réacteurs parfaitement agitée chauffée (RPAC)</a:t>
            </a:r>
          </a:p>
          <a:p>
            <a:pPr algn="ctr">
              <a:lnSpc>
                <a:spcPts val="2047"/>
              </a:lnSpc>
            </a:pPr>
            <a:r>
              <a:rPr lang="en-US" sz="1706" b="true">
                <a:solidFill>
                  <a:srgbClr val="FFFFFF"/>
                </a:solidFill>
                <a:latin typeface="Calibri (MS) Bold"/>
                <a:ea typeface="Calibri (MS) Bold"/>
                <a:cs typeface="Calibri (MS) Bold"/>
                <a:sym typeface="Calibri (MS) Bold"/>
              </a:rPr>
              <a:t>Contrôle en boucle fermée avec mélange eau chaude/froide et agitation</a:t>
            </a:r>
          </a:p>
        </p:txBody>
      </p:sp>
      <p:graphicFrame>
        <p:nvGraphicFramePr>
          <p:cNvPr name="Table 8" id="8"/>
          <p:cNvGraphicFramePr>
            <a:graphicFrameLocks noGrp="true"/>
          </p:cNvGraphicFramePr>
          <p:nvPr/>
        </p:nvGraphicFramePr>
        <p:xfrm>
          <a:off x="975360" y="2731008"/>
          <a:ext cx="7802880" cy="2655147"/>
        </p:xfrm>
        <a:graphic>
          <a:graphicData uri="http://schemas.openxmlformats.org/drawingml/2006/table">
            <a:tbl>
              <a:tblPr/>
              <a:tblGrid>
                <a:gridCol w="2926080"/>
                <a:gridCol w="2438400"/>
                <a:gridCol w="2438400"/>
              </a:tblGrid>
              <a:tr h="379307">
                <a:tc>
                  <a:txBody>
                    <a:bodyPr anchor="t" rtlCol="false"/>
                    <a:lstStyle/>
                    <a:p>
                      <a:pPr algn="ctr">
                        <a:lnSpc>
                          <a:spcPts val="1920"/>
                        </a:lnSpc>
                        <a:defRPr/>
                      </a:pPr>
                      <a:r>
                        <a:rPr lang="en-US" sz="1600" b="true">
                          <a:solidFill>
                            <a:srgbClr val="FFFFFF"/>
                          </a:solidFill>
                          <a:latin typeface="Calibri (MS) Bold"/>
                          <a:ea typeface="Calibri (MS) Bold"/>
                          <a:cs typeface="Calibri (MS) Bold"/>
                          <a:sym typeface="Calibri (MS) Bold"/>
                        </a:rPr>
                        <a:t>Caractéristique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33333"/>
                    </a:solidFill>
                  </a:tcPr>
                </a:tc>
                <a:tc>
                  <a:txBody>
                    <a:bodyPr anchor="t" rtlCol="false"/>
                    <a:lstStyle/>
                    <a:p>
                      <a:pPr algn="ctr">
                        <a:lnSpc>
                          <a:spcPts val="1920"/>
                        </a:lnSpc>
                        <a:defRPr/>
                      </a:pPr>
                      <a:r>
                        <a:rPr lang="en-US" sz="1600" b="true">
                          <a:solidFill>
                            <a:srgbClr val="FFFFFF"/>
                          </a:solidFill>
                          <a:latin typeface="Calibri (MS) Bold"/>
                          <a:ea typeface="Calibri (MS) Bold"/>
                          <a:cs typeface="Calibri (MS) Bold"/>
                          <a:sym typeface="Calibri (MS) Bold"/>
                        </a:rPr>
                        <a:t>Valeur</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33333"/>
                    </a:solidFill>
                  </a:tcPr>
                </a:tc>
                <a:tc>
                  <a:txBody>
                    <a:bodyPr anchor="t" rtlCol="false"/>
                    <a:lstStyle/>
                    <a:p>
                      <a:pPr algn="ctr">
                        <a:lnSpc>
                          <a:spcPts val="1920"/>
                        </a:lnSpc>
                        <a:defRPr/>
                      </a:pPr>
                      <a:r>
                        <a:rPr lang="en-US" sz="1600" b="true">
                          <a:solidFill>
                            <a:srgbClr val="FFFFFF"/>
                          </a:solidFill>
                          <a:latin typeface="Calibri (MS) Bold"/>
                          <a:ea typeface="Calibri (MS) Bold"/>
                          <a:cs typeface="Calibri (MS) Bold"/>
                          <a:sym typeface="Calibri (MS) Bold"/>
                        </a:rPr>
                        <a:t>Description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333333"/>
                    </a:solidFill>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Échantillons totaux</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9 000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Données équilibrées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Échantillons test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1 800 (20%)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Validation finale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Features brutes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600 (3×200)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Séries temporelles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Features post-ACP</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~6</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95% variance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Classes</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2</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Normal / Défaut</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379307">
                <a:tc>
                  <a:txBody>
                    <a:bodyPr anchor="t" rtlCol="false"/>
                    <a:lstStyle/>
                    <a:p>
                      <a:pPr algn="ctr">
                        <a:lnSpc>
                          <a:spcPts val="1791"/>
                        </a:lnSpc>
                        <a:defRPr/>
                      </a:pPr>
                      <a:r>
                        <a:rPr lang="en-US" sz="1493">
                          <a:solidFill>
                            <a:srgbClr val="000000"/>
                          </a:solidFill>
                          <a:latin typeface="Calibri (MS)"/>
                          <a:ea typeface="Calibri (MS)"/>
                          <a:cs typeface="Calibri (MS)"/>
                          <a:sym typeface="Calibri (MS)"/>
                        </a:rPr>
                        <a:t>Distribution</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~50% / 50%</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c>
                  <a:txBody>
                    <a:bodyPr anchor="t" rtlCol="false"/>
                    <a:lstStyle/>
                    <a:p>
                      <a:pPr algn="ctr">
                        <a:lnSpc>
                          <a:spcPts val="1791"/>
                        </a:lnSpc>
                        <a:defRPr/>
                      </a:pPr>
                      <a:r>
                        <a:rPr lang="en-US" sz="1493">
                          <a:solidFill>
                            <a:srgbClr val="000000"/>
                          </a:solidFill>
                          <a:latin typeface="Calibri (MS)"/>
                          <a:ea typeface="Calibri (MS)"/>
                          <a:cs typeface="Calibri (MS)"/>
                          <a:sym typeface="Calibri (MS)"/>
                        </a:rPr>
                        <a:t>Équilibrée</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2F2"/>
                    </a:solidFill>
                  </a:tcPr>
                </a:tc>
              </a:tr>
            </a:tbl>
          </a:graphicData>
        </a:graphic>
      </p:graphicFrame>
      <p:grpSp>
        <p:nvGrpSpPr>
          <p:cNvPr name="Group 9" id="9"/>
          <p:cNvGrpSpPr/>
          <p:nvPr/>
        </p:nvGrpSpPr>
        <p:grpSpPr>
          <a:xfrm rot="0">
            <a:off x="970280" y="5652008"/>
            <a:ext cx="7813040" cy="790448"/>
            <a:chOff x="0" y="0"/>
            <a:chExt cx="10417387" cy="1053931"/>
          </a:xfrm>
        </p:grpSpPr>
        <p:sp>
          <p:nvSpPr>
            <p:cNvPr name="Freeform 10" id="10"/>
            <p:cNvSpPr/>
            <p:nvPr/>
          </p:nvSpPr>
          <p:spPr>
            <a:xfrm flipH="false" flipV="false" rot="0">
              <a:off x="6731" y="6731"/>
              <a:ext cx="10403840" cy="1040384"/>
            </a:xfrm>
            <a:custGeom>
              <a:avLst/>
              <a:gdLst/>
              <a:ahLst/>
              <a:cxnLst/>
              <a:rect r="r" b="b" t="t" l="l"/>
              <a:pathLst>
                <a:path h="1040384" w="10403840">
                  <a:moveTo>
                    <a:pt x="0" y="173482"/>
                  </a:moveTo>
                  <a:cubicBezTo>
                    <a:pt x="0" y="77724"/>
                    <a:pt x="78613" y="0"/>
                    <a:pt x="175514" y="0"/>
                  </a:cubicBezTo>
                  <a:lnTo>
                    <a:pt x="10228453" y="0"/>
                  </a:lnTo>
                  <a:cubicBezTo>
                    <a:pt x="10325354" y="0"/>
                    <a:pt x="10403840" y="77597"/>
                    <a:pt x="10403840" y="173355"/>
                  </a:cubicBezTo>
                  <a:lnTo>
                    <a:pt x="10403840" y="867029"/>
                  </a:lnTo>
                  <a:cubicBezTo>
                    <a:pt x="10403840" y="962787"/>
                    <a:pt x="10325354" y="1040384"/>
                    <a:pt x="10228453" y="1040384"/>
                  </a:cubicBezTo>
                  <a:lnTo>
                    <a:pt x="175514" y="1040384"/>
                  </a:lnTo>
                  <a:cubicBezTo>
                    <a:pt x="78613" y="1040384"/>
                    <a:pt x="0" y="962787"/>
                    <a:pt x="0" y="867029"/>
                  </a:cubicBezTo>
                  <a:close/>
                </a:path>
              </a:pathLst>
            </a:custGeom>
            <a:solidFill>
              <a:srgbClr val="FFC000"/>
            </a:solidFill>
          </p:spPr>
        </p:sp>
        <p:sp>
          <p:nvSpPr>
            <p:cNvPr name="Freeform 11" id="11"/>
            <p:cNvSpPr/>
            <p:nvPr/>
          </p:nvSpPr>
          <p:spPr>
            <a:xfrm flipH="false" flipV="false" rot="0">
              <a:off x="0" y="0"/>
              <a:ext cx="10417428" cy="1053973"/>
            </a:xfrm>
            <a:custGeom>
              <a:avLst/>
              <a:gdLst/>
              <a:ahLst/>
              <a:cxnLst/>
              <a:rect r="r" b="b" t="t" l="l"/>
              <a:pathLst>
                <a:path h="1053973" w="10417428">
                  <a:moveTo>
                    <a:pt x="0" y="180213"/>
                  </a:moveTo>
                  <a:cubicBezTo>
                    <a:pt x="0" y="80645"/>
                    <a:pt x="81661" y="0"/>
                    <a:pt x="182245" y="0"/>
                  </a:cubicBezTo>
                  <a:lnTo>
                    <a:pt x="10235184" y="0"/>
                  </a:lnTo>
                  <a:lnTo>
                    <a:pt x="10235184" y="6731"/>
                  </a:lnTo>
                  <a:lnTo>
                    <a:pt x="10235184" y="0"/>
                  </a:lnTo>
                  <a:cubicBezTo>
                    <a:pt x="10335768" y="0"/>
                    <a:pt x="10417428" y="80645"/>
                    <a:pt x="10417428" y="180213"/>
                  </a:cubicBezTo>
                  <a:lnTo>
                    <a:pt x="10410698" y="180213"/>
                  </a:lnTo>
                  <a:lnTo>
                    <a:pt x="10417428" y="180213"/>
                  </a:lnTo>
                  <a:lnTo>
                    <a:pt x="10417428" y="873760"/>
                  </a:lnTo>
                  <a:lnTo>
                    <a:pt x="10410698" y="873760"/>
                  </a:lnTo>
                  <a:lnTo>
                    <a:pt x="10417428" y="873760"/>
                  </a:lnTo>
                  <a:cubicBezTo>
                    <a:pt x="10417428" y="973328"/>
                    <a:pt x="10335768" y="1053973"/>
                    <a:pt x="10235184" y="1053973"/>
                  </a:cubicBezTo>
                  <a:lnTo>
                    <a:pt x="10235184" y="1047242"/>
                  </a:lnTo>
                  <a:lnTo>
                    <a:pt x="10235184" y="1053973"/>
                  </a:lnTo>
                  <a:lnTo>
                    <a:pt x="182245" y="1053973"/>
                  </a:lnTo>
                  <a:lnTo>
                    <a:pt x="182245" y="1047242"/>
                  </a:lnTo>
                  <a:lnTo>
                    <a:pt x="182245" y="1053973"/>
                  </a:lnTo>
                  <a:cubicBezTo>
                    <a:pt x="81661" y="1053973"/>
                    <a:pt x="0" y="973328"/>
                    <a:pt x="0" y="873760"/>
                  </a:cubicBezTo>
                  <a:lnTo>
                    <a:pt x="0" y="180213"/>
                  </a:lnTo>
                  <a:lnTo>
                    <a:pt x="6731" y="180213"/>
                  </a:lnTo>
                  <a:lnTo>
                    <a:pt x="0" y="180213"/>
                  </a:lnTo>
                  <a:moveTo>
                    <a:pt x="13589" y="180213"/>
                  </a:moveTo>
                  <a:lnTo>
                    <a:pt x="13589" y="873760"/>
                  </a:lnTo>
                  <a:lnTo>
                    <a:pt x="6731" y="873760"/>
                  </a:lnTo>
                  <a:lnTo>
                    <a:pt x="13462" y="873760"/>
                  </a:lnTo>
                  <a:cubicBezTo>
                    <a:pt x="13462" y="965708"/>
                    <a:pt x="88900" y="1040384"/>
                    <a:pt x="182118" y="1040384"/>
                  </a:cubicBezTo>
                  <a:lnTo>
                    <a:pt x="10235184" y="1040384"/>
                  </a:lnTo>
                  <a:cubicBezTo>
                    <a:pt x="10328402" y="1040384"/>
                    <a:pt x="10403840" y="965708"/>
                    <a:pt x="10403840" y="873760"/>
                  </a:cubicBezTo>
                  <a:lnTo>
                    <a:pt x="10403840" y="180213"/>
                  </a:lnTo>
                  <a:cubicBezTo>
                    <a:pt x="10403840" y="88265"/>
                    <a:pt x="10328402" y="13589"/>
                    <a:pt x="10235184" y="13589"/>
                  </a:cubicBezTo>
                  <a:lnTo>
                    <a:pt x="182245" y="13589"/>
                  </a:lnTo>
                  <a:lnTo>
                    <a:pt x="182245" y="6731"/>
                  </a:lnTo>
                  <a:lnTo>
                    <a:pt x="182245" y="13462"/>
                  </a:lnTo>
                  <a:cubicBezTo>
                    <a:pt x="89027" y="13589"/>
                    <a:pt x="13589" y="88265"/>
                    <a:pt x="13589" y="180213"/>
                  </a:cubicBezTo>
                  <a:close/>
                </a:path>
              </a:pathLst>
            </a:custGeom>
            <a:solidFill>
              <a:srgbClr val="4A7EBB"/>
            </a:solidFill>
          </p:spPr>
        </p:sp>
      </p:grpSp>
      <p:sp>
        <p:nvSpPr>
          <p:cNvPr name="TextBox 12" id="12"/>
          <p:cNvSpPr txBox="true"/>
          <p:nvPr/>
        </p:nvSpPr>
        <p:spPr>
          <a:xfrm rot="0">
            <a:off x="1261872" y="5871930"/>
            <a:ext cx="7229856" cy="541401"/>
          </a:xfrm>
          <a:prstGeom prst="rect">
            <a:avLst/>
          </a:prstGeom>
        </p:spPr>
        <p:txBody>
          <a:bodyPr anchor="t" rtlCol="false" tIns="0" lIns="0" bIns="0" rIns="0">
            <a:spAutoFit/>
          </a:bodyPr>
          <a:lstStyle/>
          <a:p>
            <a:pPr algn="ctr">
              <a:lnSpc>
                <a:spcPts val="2304"/>
              </a:lnSpc>
            </a:pPr>
            <a:r>
              <a:rPr lang="en-US" sz="1920" b="true">
                <a:solidFill>
                  <a:srgbClr val="FFFFFF"/>
                </a:solidFill>
                <a:latin typeface="Calibri (MS) Bold"/>
                <a:ea typeface="Calibri (MS) Bold"/>
                <a:cs typeface="Calibri (MS) Bold"/>
                <a:sym typeface="Calibri (MS) Bold"/>
              </a:rPr>
              <a:t>💡 Réduction dimensionnelle critique : 600 → 6 features (ACP 95%)</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Méthodologie : Pipeline KNN</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766741" y="1937173"/>
            <a:ext cx="1782741" cy="1197525"/>
            <a:chOff x="0" y="0"/>
            <a:chExt cx="2376988" cy="1596700"/>
          </a:xfrm>
        </p:grpSpPr>
        <p:sp>
          <p:nvSpPr>
            <p:cNvPr name="Freeform 5" id="5"/>
            <p:cNvSpPr/>
            <p:nvPr/>
          </p:nvSpPr>
          <p:spPr>
            <a:xfrm flipH="false" flipV="false" rot="0">
              <a:off x="18034" y="18034"/>
              <a:ext cx="2340991" cy="1560576"/>
            </a:xfrm>
            <a:custGeom>
              <a:avLst/>
              <a:gdLst/>
              <a:ahLst/>
              <a:cxnLst/>
              <a:rect r="r" b="b" t="t" l="l"/>
              <a:pathLst>
                <a:path h="1560576" w="2340991">
                  <a:moveTo>
                    <a:pt x="0" y="260096"/>
                  </a:moveTo>
                  <a:cubicBezTo>
                    <a:pt x="0" y="116459"/>
                    <a:pt x="117348" y="0"/>
                    <a:pt x="262128" y="0"/>
                  </a:cubicBezTo>
                  <a:lnTo>
                    <a:pt x="2078863" y="0"/>
                  </a:lnTo>
                  <a:cubicBezTo>
                    <a:pt x="2223643" y="0"/>
                    <a:pt x="2340991" y="116459"/>
                    <a:pt x="2340991" y="260096"/>
                  </a:cubicBezTo>
                  <a:lnTo>
                    <a:pt x="2340991" y="1300480"/>
                  </a:lnTo>
                  <a:cubicBezTo>
                    <a:pt x="2340991" y="1444117"/>
                    <a:pt x="2223643" y="1560576"/>
                    <a:pt x="2078863" y="1560576"/>
                  </a:cubicBezTo>
                  <a:lnTo>
                    <a:pt x="262128" y="1560576"/>
                  </a:lnTo>
                  <a:cubicBezTo>
                    <a:pt x="117348" y="1560576"/>
                    <a:pt x="0" y="1444117"/>
                    <a:pt x="0" y="1300480"/>
                  </a:cubicBezTo>
                  <a:close/>
                </a:path>
              </a:pathLst>
            </a:custGeom>
            <a:solidFill>
              <a:srgbClr val="333333"/>
            </a:solidFill>
          </p:spPr>
        </p:sp>
        <p:sp>
          <p:nvSpPr>
            <p:cNvPr name="Freeform 6" id="6"/>
            <p:cNvSpPr/>
            <p:nvPr/>
          </p:nvSpPr>
          <p:spPr>
            <a:xfrm flipH="false" flipV="false" rot="0">
              <a:off x="0" y="0"/>
              <a:ext cx="2377059" cy="1596644"/>
            </a:xfrm>
            <a:custGeom>
              <a:avLst/>
              <a:gdLst/>
              <a:ahLst/>
              <a:cxnLst/>
              <a:rect r="r" b="b" t="t" l="l"/>
              <a:pathLst>
                <a:path h="1596644" w="2377059">
                  <a:moveTo>
                    <a:pt x="0" y="278130"/>
                  </a:moveTo>
                  <a:cubicBezTo>
                    <a:pt x="0" y="124460"/>
                    <a:pt x="125603" y="0"/>
                    <a:pt x="280162" y="0"/>
                  </a:cubicBezTo>
                  <a:lnTo>
                    <a:pt x="2096897" y="0"/>
                  </a:lnTo>
                  <a:lnTo>
                    <a:pt x="2096897" y="18034"/>
                  </a:lnTo>
                  <a:lnTo>
                    <a:pt x="2096897" y="0"/>
                  </a:lnTo>
                  <a:cubicBezTo>
                    <a:pt x="2251456" y="0"/>
                    <a:pt x="2377059" y="124460"/>
                    <a:pt x="2377059" y="278130"/>
                  </a:cubicBezTo>
                  <a:lnTo>
                    <a:pt x="2359025" y="278130"/>
                  </a:lnTo>
                  <a:lnTo>
                    <a:pt x="2377059" y="278130"/>
                  </a:lnTo>
                  <a:lnTo>
                    <a:pt x="2377059" y="1318514"/>
                  </a:lnTo>
                  <a:lnTo>
                    <a:pt x="2359025" y="1318514"/>
                  </a:lnTo>
                  <a:lnTo>
                    <a:pt x="2377059" y="1318514"/>
                  </a:lnTo>
                  <a:cubicBezTo>
                    <a:pt x="2377059" y="1472311"/>
                    <a:pt x="2251456" y="1596644"/>
                    <a:pt x="2096897" y="1596644"/>
                  </a:cubicBezTo>
                  <a:lnTo>
                    <a:pt x="2096897" y="1578610"/>
                  </a:lnTo>
                  <a:lnTo>
                    <a:pt x="2096897" y="1596644"/>
                  </a:lnTo>
                  <a:lnTo>
                    <a:pt x="280162" y="1596644"/>
                  </a:lnTo>
                  <a:lnTo>
                    <a:pt x="280162" y="1578610"/>
                  </a:lnTo>
                  <a:lnTo>
                    <a:pt x="280162" y="1596644"/>
                  </a:lnTo>
                  <a:cubicBezTo>
                    <a:pt x="125603" y="1596644"/>
                    <a:pt x="0" y="1472311"/>
                    <a:pt x="0" y="1318514"/>
                  </a:cubicBezTo>
                  <a:lnTo>
                    <a:pt x="0" y="278130"/>
                  </a:lnTo>
                  <a:lnTo>
                    <a:pt x="18034" y="278130"/>
                  </a:lnTo>
                  <a:lnTo>
                    <a:pt x="0" y="278130"/>
                  </a:lnTo>
                  <a:moveTo>
                    <a:pt x="36068" y="278130"/>
                  </a:moveTo>
                  <a:lnTo>
                    <a:pt x="36068" y="1318514"/>
                  </a:lnTo>
                  <a:lnTo>
                    <a:pt x="18034" y="1318514"/>
                  </a:lnTo>
                  <a:lnTo>
                    <a:pt x="36068" y="1318514"/>
                  </a:lnTo>
                  <a:cubicBezTo>
                    <a:pt x="36068" y="1452118"/>
                    <a:pt x="145161" y="1560576"/>
                    <a:pt x="280035" y="1560576"/>
                  </a:cubicBezTo>
                  <a:lnTo>
                    <a:pt x="2096897" y="1560576"/>
                  </a:lnTo>
                  <a:cubicBezTo>
                    <a:pt x="2231771" y="1560576"/>
                    <a:pt x="2340864" y="1452118"/>
                    <a:pt x="2340864" y="1318514"/>
                  </a:cubicBezTo>
                  <a:lnTo>
                    <a:pt x="2340864" y="278130"/>
                  </a:lnTo>
                  <a:cubicBezTo>
                    <a:pt x="2340864" y="144526"/>
                    <a:pt x="2231771" y="36068"/>
                    <a:pt x="2096897" y="36068"/>
                  </a:cubicBezTo>
                  <a:lnTo>
                    <a:pt x="280162" y="36068"/>
                  </a:lnTo>
                  <a:lnTo>
                    <a:pt x="280162" y="18034"/>
                  </a:lnTo>
                  <a:lnTo>
                    <a:pt x="280162" y="36068"/>
                  </a:lnTo>
                  <a:cubicBezTo>
                    <a:pt x="145288" y="36068"/>
                    <a:pt x="36068" y="144653"/>
                    <a:pt x="36068" y="278130"/>
                  </a:cubicBezTo>
                  <a:close/>
                </a:path>
              </a:pathLst>
            </a:custGeom>
            <a:solidFill>
              <a:srgbClr val="333333"/>
            </a:solidFill>
          </p:spPr>
        </p:sp>
      </p:grpSp>
      <p:sp>
        <p:nvSpPr>
          <p:cNvPr name="TextBox 7" id="7"/>
          <p:cNvSpPr txBox="true"/>
          <p:nvPr/>
        </p:nvSpPr>
        <p:spPr>
          <a:xfrm rot="0">
            <a:off x="766741" y="2104644"/>
            <a:ext cx="1767840" cy="304800"/>
          </a:xfrm>
          <a:prstGeom prst="rect">
            <a:avLst/>
          </a:prstGeom>
        </p:spPr>
        <p:txBody>
          <a:bodyPr anchor="t" rtlCol="false" tIns="0" lIns="0" bIns="0" rIns="0">
            <a:spAutoFit/>
          </a:bodyPr>
          <a:lstStyle/>
          <a:p>
            <a:pPr algn="ctr">
              <a:lnSpc>
                <a:spcPts val="2151"/>
              </a:lnSpc>
            </a:pPr>
            <a:r>
              <a:rPr lang="en-US" sz="1793" b="true">
                <a:solidFill>
                  <a:srgbClr val="FFFFFF"/>
                </a:solidFill>
                <a:latin typeface="Calibri (MS) Bold"/>
                <a:ea typeface="Calibri (MS) Bold"/>
                <a:cs typeface="Calibri (MS) Bold"/>
                <a:sym typeface="Calibri (MS) Bold"/>
              </a:rPr>
              <a:t>1. Données Brutes</a:t>
            </a:r>
          </a:p>
        </p:txBody>
      </p:sp>
      <p:sp>
        <p:nvSpPr>
          <p:cNvPr name="TextBox 8" id="8"/>
          <p:cNvSpPr txBox="true"/>
          <p:nvPr/>
        </p:nvSpPr>
        <p:spPr>
          <a:xfrm rot="0">
            <a:off x="969264" y="2611374"/>
            <a:ext cx="1377696" cy="257175"/>
          </a:xfrm>
          <a:prstGeom prst="rect">
            <a:avLst/>
          </a:prstGeom>
        </p:spPr>
        <p:txBody>
          <a:bodyPr anchor="t" rtlCol="false" tIns="0" lIns="0" bIns="0" rIns="0">
            <a:spAutoFit/>
          </a:bodyPr>
          <a:lstStyle/>
          <a:p>
            <a:pPr algn="ctr">
              <a:lnSpc>
                <a:spcPts val="1895"/>
              </a:lnSpc>
            </a:pPr>
            <a:r>
              <a:rPr lang="en-US" sz="1579">
                <a:solidFill>
                  <a:srgbClr val="FFFFFF"/>
                </a:solidFill>
                <a:latin typeface="Calibri (MS)"/>
                <a:ea typeface="Calibri (MS)"/>
                <a:cs typeface="Calibri (MS)"/>
                <a:sym typeface="Calibri (MS)"/>
              </a:rPr>
              <a:t>600 features</a:t>
            </a:r>
          </a:p>
        </p:txBody>
      </p:sp>
      <p:grpSp>
        <p:nvGrpSpPr>
          <p:cNvPr name="Group 9" id="9"/>
          <p:cNvGrpSpPr/>
          <p:nvPr/>
        </p:nvGrpSpPr>
        <p:grpSpPr>
          <a:xfrm rot="0">
            <a:off x="2814997" y="1937173"/>
            <a:ext cx="1782741" cy="1197525"/>
            <a:chOff x="0" y="0"/>
            <a:chExt cx="2376988" cy="1596700"/>
          </a:xfrm>
        </p:grpSpPr>
        <p:sp>
          <p:nvSpPr>
            <p:cNvPr name="Freeform 10" id="10"/>
            <p:cNvSpPr/>
            <p:nvPr/>
          </p:nvSpPr>
          <p:spPr>
            <a:xfrm flipH="false" flipV="false" rot="0">
              <a:off x="18034" y="18034"/>
              <a:ext cx="2340991" cy="1560576"/>
            </a:xfrm>
            <a:custGeom>
              <a:avLst/>
              <a:gdLst/>
              <a:ahLst/>
              <a:cxnLst/>
              <a:rect r="r" b="b" t="t" l="l"/>
              <a:pathLst>
                <a:path h="1560576" w="2340991">
                  <a:moveTo>
                    <a:pt x="0" y="260096"/>
                  </a:moveTo>
                  <a:cubicBezTo>
                    <a:pt x="0" y="116459"/>
                    <a:pt x="117348" y="0"/>
                    <a:pt x="262128" y="0"/>
                  </a:cubicBezTo>
                  <a:lnTo>
                    <a:pt x="2078863" y="0"/>
                  </a:lnTo>
                  <a:cubicBezTo>
                    <a:pt x="2223643" y="0"/>
                    <a:pt x="2340991" y="116459"/>
                    <a:pt x="2340991" y="260096"/>
                  </a:cubicBezTo>
                  <a:lnTo>
                    <a:pt x="2340991" y="1300480"/>
                  </a:lnTo>
                  <a:cubicBezTo>
                    <a:pt x="2340991" y="1444117"/>
                    <a:pt x="2223643" y="1560576"/>
                    <a:pt x="2078863" y="1560576"/>
                  </a:cubicBezTo>
                  <a:lnTo>
                    <a:pt x="262128" y="1560576"/>
                  </a:lnTo>
                  <a:cubicBezTo>
                    <a:pt x="117348" y="1560576"/>
                    <a:pt x="0" y="1444117"/>
                    <a:pt x="0" y="1300480"/>
                  </a:cubicBezTo>
                  <a:close/>
                </a:path>
              </a:pathLst>
            </a:custGeom>
            <a:solidFill>
              <a:srgbClr val="666666"/>
            </a:solidFill>
          </p:spPr>
        </p:sp>
        <p:sp>
          <p:nvSpPr>
            <p:cNvPr name="Freeform 11" id="11"/>
            <p:cNvSpPr/>
            <p:nvPr/>
          </p:nvSpPr>
          <p:spPr>
            <a:xfrm flipH="false" flipV="false" rot="0">
              <a:off x="0" y="0"/>
              <a:ext cx="2377059" cy="1596644"/>
            </a:xfrm>
            <a:custGeom>
              <a:avLst/>
              <a:gdLst/>
              <a:ahLst/>
              <a:cxnLst/>
              <a:rect r="r" b="b" t="t" l="l"/>
              <a:pathLst>
                <a:path h="1596644" w="2377059">
                  <a:moveTo>
                    <a:pt x="0" y="278130"/>
                  </a:moveTo>
                  <a:cubicBezTo>
                    <a:pt x="0" y="124460"/>
                    <a:pt x="125603" y="0"/>
                    <a:pt x="280162" y="0"/>
                  </a:cubicBezTo>
                  <a:lnTo>
                    <a:pt x="2096897" y="0"/>
                  </a:lnTo>
                  <a:lnTo>
                    <a:pt x="2096897" y="18034"/>
                  </a:lnTo>
                  <a:lnTo>
                    <a:pt x="2096897" y="0"/>
                  </a:lnTo>
                  <a:cubicBezTo>
                    <a:pt x="2251456" y="0"/>
                    <a:pt x="2377059" y="124460"/>
                    <a:pt x="2377059" y="278130"/>
                  </a:cubicBezTo>
                  <a:lnTo>
                    <a:pt x="2359025" y="278130"/>
                  </a:lnTo>
                  <a:lnTo>
                    <a:pt x="2377059" y="278130"/>
                  </a:lnTo>
                  <a:lnTo>
                    <a:pt x="2377059" y="1318514"/>
                  </a:lnTo>
                  <a:lnTo>
                    <a:pt x="2359025" y="1318514"/>
                  </a:lnTo>
                  <a:lnTo>
                    <a:pt x="2377059" y="1318514"/>
                  </a:lnTo>
                  <a:cubicBezTo>
                    <a:pt x="2377059" y="1472311"/>
                    <a:pt x="2251456" y="1596644"/>
                    <a:pt x="2096897" y="1596644"/>
                  </a:cubicBezTo>
                  <a:lnTo>
                    <a:pt x="2096897" y="1578610"/>
                  </a:lnTo>
                  <a:lnTo>
                    <a:pt x="2096897" y="1596644"/>
                  </a:lnTo>
                  <a:lnTo>
                    <a:pt x="280162" y="1596644"/>
                  </a:lnTo>
                  <a:lnTo>
                    <a:pt x="280162" y="1578610"/>
                  </a:lnTo>
                  <a:lnTo>
                    <a:pt x="280162" y="1596644"/>
                  </a:lnTo>
                  <a:cubicBezTo>
                    <a:pt x="125603" y="1596644"/>
                    <a:pt x="0" y="1472311"/>
                    <a:pt x="0" y="1318514"/>
                  </a:cubicBezTo>
                  <a:lnTo>
                    <a:pt x="0" y="278130"/>
                  </a:lnTo>
                  <a:lnTo>
                    <a:pt x="18034" y="278130"/>
                  </a:lnTo>
                  <a:lnTo>
                    <a:pt x="0" y="278130"/>
                  </a:lnTo>
                  <a:moveTo>
                    <a:pt x="36068" y="278130"/>
                  </a:moveTo>
                  <a:lnTo>
                    <a:pt x="36068" y="1318514"/>
                  </a:lnTo>
                  <a:lnTo>
                    <a:pt x="18034" y="1318514"/>
                  </a:lnTo>
                  <a:lnTo>
                    <a:pt x="36068" y="1318514"/>
                  </a:lnTo>
                  <a:cubicBezTo>
                    <a:pt x="36068" y="1452118"/>
                    <a:pt x="145161" y="1560576"/>
                    <a:pt x="280035" y="1560576"/>
                  </a:cubicBezTo>
                  <a:lnTo>
                    <a:pt x="2096897" y="1560576"/>
                  </a:lnTo>
                  <a:cubicBezTo>
                    <a:pt x="2231771" y="1560576"/>
                    <a:pt x="2340864" y="1452118"/>
                    <a:pt x="2340864" y="1318514"/>
                  </a:cubicBezTo>
                  <a:lnTo>
                    <a:pt x="2340864" y="278130"/>
                  </a:lnTo>
                  <a:cubicBezTo>
                    <a:pt x="2340864" y="144526"/>
                    <a:pt x="2231771" y="36068"/>
                    <a:pt x="2096897" y="36068"/>
                  </a:cubicBezTo>
                  <a:lnTo>
                    <a:pt x="280162" y="36068"/>
                  </a:lnTo>
                  <a:lnTo>
                    <a:pt x="280162" y="18034"/>
                  </a:lnTo>
                  <a:lnTo>
                    <a:pt x="280162" y="36068"/>
                  </a:lnTo>
                  <a:cubicBezTo>
                    <a:pt x="145288" y="36068"/>
                    <a:pt x="36068" y="144653"/>
                    <a:pt x="36068" y="278130"/>
                  </a:cubicBezTo>
                  <a:close/>
                </a:path>
              </a:pathLst>
            </a:custGeom>
            <a:solidFill>
              <a:srgbClr val="333333"/>
            </a:solidFill>
          </p:spPr>
        </p:sp>
      </p:grpSp>
      <p:sp>
        <p:nvSpPr>
          <p:cNvPr name="TextBox 12" id="12"/>
          <p:cNvSpPr txBox="true"/>
          <p:nvPr/>
        </p:nvSpPr>
        <p:spPr>
          <a:xfrm rot="0">
            <a:off x="2792820" y="2104644"/>
            <a:ext cx="1827096" cy="304800"/>
          </a:xfrm>
          <a:prstGeom prst="rect">
            <a:avLst/>
          </a:prstGeom>
        </p:spPr>
        <p:txBody>
          <a:bodyPr anchor="t" rtlCol="false" tIns="0" lIns="0" bIns="0" rIns="0">
            <a:spAutoFit/>
          </a:bodyPr>
          <a:lstStyle/>
          <a:p>
            <a:pPr algn="ctr">
              <a:lnSpc>
                <a:spcPts val="2151"/>
              </a:lnSpc>
            </a:pPr>
            <a:r>
              <a:rPr lang="en-US" sz="1793" b="true">
                <a:solidFill>
                  <a:srgbClr val="FFFFFF"/>
                </a:solidFill>
                <a:latin typeface="Calibri (MS) Bold"/>
                <a:ea typeface="Calibri (MS) Bold"/>
                <a:cs typeface="Calibri (MS) Bold"/>
                <a:sym typeface="Calibri (MS) Bold"/>
              </a:rPr>
              <a:t>2.Standardisation</a:t>
            </a:r>
          </a:p>
        </p:txBody>
      </p:sp>
      <p:sp>
        <p:nvSpPr>
          <p:cNvPr name="TextBox 13" id="13"/>
          <p:cNvSpPr txBox="true"/>
          <p:nvPr/>
        </p:nvSpPr>
        <p:spPr>
          <a:xfrm rot="0">
            <a:off x="3017520" y="2611374"/>
            <a:ext cx="1377696" cy="257175"/>
          </a:xfrm>
          <a:prstGeom prst="rect">
            <a:avLst/>
          </a:prstGeom>
        </p:spPr>
        <p:txBody>
          <a:bodyPr anchor="t" rtlCol="false" tIns="0" lIns="0" bIns="0" rIns="0">
            <a:spAutoFit/>
          </a:bodyPr>
          <a:lstStyle/>
          <a:p>
            <a:pPr algn="ctr">
              <a:lnSpc>
                <a:spcPts val="1895"/>
              </a:lnSpc>
            </a:pPr>
            <a:r>
              <a:rPr lang="en-US" sz="1579">
                <a:solidFill>
                  <a:srgbClr val="FFFFFF"/>
                </a:solidFill>
                <a:latin typeface="Calibri (MS)"/>
                <a:ea typeface="Calibri (MS)"/>
                <a:cs typeface="Calibri (MS)"/>
                <a:sym typeface="Calibri (MS)"/>
              </a:rPr>
              <a:t>μ=0, σ=1</a:t>
            </a:r>
          </a:p>
        </p:txBody>
      </p:sp>
      <p:grpSp>
        <p:nvGrpSpPr>
          <p:cNvPr name="Group 14" id="14"/>
          <p:cNvGrpSpPr/>
          <p:nvPr/>
        </p:nvGrpSpPr>
        <p:grpSpPr>
          <a:xfrm rot="0">
            <a:off x="4863253" y="1937173"/>
            <a:ext cx="1782741" cy="1197525"/>
            <a:chOff x="0" y="0"/>
            <a:chExt cx="2376988" cy="1596700"/>
          </a:xfrm>
        </p:grpSpPr>
        <p:sp>
          <p:nvSpPr>
            <p:cNvPr name="Freeform 15" id="15"/>
            <p:cNvSpPr/>
            <p:nvPr/>
          </p:nvSpPr>
          <p:spPr>
            <a:xfrm flipH="false" flipV="false" rot="0">
              <a:off x="18034" y="18034"/>
              <a:ext cx="2340991" cy="1560576"/>
            </a:xfrm>
            <a:custGeom>
              <a:avLst/>
              <a:gdLst/>
              <a:ahLst/>
              <a:cxnLst/>
              <a:rect r="r" b="b" t="t" l="l"/>
              <a:pathLst>
                <a:path h="1560576" w="2340991">
                  <a:moveTo>
                    <a:pt x="0" y="260096"/>
                  </a:moveTo>
                  <a:cubicBezTo>
                    <a:pt x="0" y="116459"/>
                    <a:pt x="117348" y="0"/>
                    <a:pt x="262128" y="0"/>
                  </a:cubicBezTo>
                  <a:lnTo>
                    <a:pt x="2078863" y="0"/>
                  </a:lnTo>
                  <a:cubicBezTo>
                    <a:pt x="2223643" y="0"/>
                    <a:pt x="2340991" y="116459"/>
                    <a:pt x="2340991" y="260096"/>
                  </a:cubicBezTo>
                  <a:lnTo>
                    <a:pt x="2340991" y="1300480"/>
                  </a:lnTo>
                  <a:cubicBezTo>
                    <a:pt x="2340991" y="1444117"/>
                    <a:pt x="2223643" y="1560576"/>
                    <a:pt x="2078863" y="1560576"/>
                  </a:cubicBezTo>
                  <a:lnTo>
                    <a:pt x="262128" y="1560576"/>
                  </a:lnTo>
                  <a:cubicBezTo>
                    <a:pt x="117348" y="1560576"/>
                    <a:pt x="0" y="1444117"/>
                    <a:pt x="0" y="1300480"/>
                  </a:cubicBezTo>
                  <a:close/>
                </a:path>
              </a:pathLst>
            </a:custGeom>
            <a:solidFill>
              <a:srgbClr val="00B0F0"/>
            </a:solidFill>
          </p:spPr>
        </p:sp>
        <p:sp>
          <p:nvSpPr>
            <p:cNvPr name="Freeform 16" id="16"/>
            <p:cNvSpPr/>
            <p:nvPr/>
          </p:nvSpPr>
          <p:spPr>
            <a:xfrm flipH="false" flipV="false" rot="0">
              <a:off x="0" y="0"/>
              <a:ext cx="2377059" cy="1596644"/>
            </a:xfrm>
            <a:custGeom>
              <a:avLst/>
              <a:gdLst/>
              <a:ahLst/>
              <a:cxnLst/>
              <a:rect r="r" b="b" t="t" l="l"/>
              <a:pathLst>
                <a:path h="1596644" w="2377059">
                  <a:moveTo>
                    <a:pt x="0" y="278130"/>
                  </a:moveTo>
                  <a:cubicBezTo>
                    <a:pt x="0" y="124460"/>
                    <a:pt x="125603" y="0"/>
                    <a:pt x="280162" y="0"/>
                  </a:cubicBezTo>
                  <a:lnTo>
                    <a:pt x="2096897" y="0"/>
                  </a:lnTo>
                  <a:lnTo>
                    <a:pt x="2096897" y="18034"/>
                  </a:lnTo>
                  <a:lnTo>
                    <a:pt x="2096897" y="0"/>
                  </a:lnTo>
                  <a:cubicBezTo>
                    <a:pt x="2251456" y="0"/>
                    <a:pt x="2377059" y="124460"/>
                    <a:pt x="2377059" y="278130"/>
                  </a:cubicBezTo>
                  <a:lnTo>
                    <a:pt x="2359025" y="278130"/>
                  </a:lnTo>
                  <a:lnTo>
                    <a:pt x="2377059" y="278130"/>
                  </a:lnTo>
                  <a:lnTo>
                    <a:pt x="2377059" y="1318514"/>
                  </a:lnTo>
                  <a:lnTo>
                    <a:pt x="2359025" y="1318514"/>
                  </a:lnTo>
                  <a:lnTo>
                    <a:pt x="2377059" y="1318514"/>
                  </a:lnTo>
                  <a:cubicBezTo>
                    <a:pt x="2377059" y="1472311"/>
                    <a:pt x="2251456" y="1596644"/>
                    <a:pt x="2096897" y="1596644"/>
                  </a:cubicBezTo>
                  <a:lnTo>
                    <a:pt x="2096897" y="1578610"/>
                  </a:lnTo>
                  <a:lnTo>
                    <a:pt x="2096897" y="1596644"/>
                  </a:lnTo>
                  <a:lnTo>
                    <a:pt x="280162" y="1596644"/>
                  </a:lnTo>
                  <a:lnTo>
                    <a:pt x="280162" y="1578610"/>
                  </a:lnTo>
                  <a:lnTo>
                    <a:pt x="280162" y="1596644"/>
                  </a:lnTo>
                  <a:cubicBezTo>
                    <a:pt x="125603" y="1596644"/>
                    <a:pt x="0" y="1472311"/>
                    <a:pt x="0" y="1318514"/>
                  </a:cubicBezTo>
                  <a:lnTo>
                    <a:pt x="0" y="278130"/>
                  </a:lnTo>
                  <a:lnTo>
                    <a:pt x="18034" y="278130"/>
                  </a:lnTo>
                  <a:lnTo>
                    <a:pt x="0" y="278130"/>
                  </a:lnTo>
                  <a:moveTo>
                    <a:pt x="36068" y="278130"/>
                  </a:moveTo>
                  <a:lnTo>
                    <a:pt x="36068" y="1318514"/>
                  </a:lnTo>
                  <a:lnTo>
                    <a:pt x="18034" y="1318514"/>
                  </a:lnTo>
                  <a:lnTo>
                    <a:pt x="36068" y="1318514"/>
                  </a:lnTo>
                  <a:cubicBezTo>
                    <a:pt x="36068" y="1452118"/>
                    <a:pt x="145161" y="1560576"/>
                    <a:pt x="280035" y="1560576"/>
                  </a:cubicBezTo>
                  <a:lnTo>
                    <a:pt x="2096897" y="1560576"/>
                  </a:lnTo>
                  <a:cubicBezTo>
                    <a:pt x="2231771" y="1560576"/>
                    <a:pt x="2340864" y="1452118"/>
                    <a:pt x="2340864" y="1318514"/>
                  </a:cubicBezTo>
                  <a:lnTo>
                    <a:pt x="2340864" y="278130"/>
                  </a:lnTo>
                  <a:cubicBezTo>
                    <a:pt x="2340864" y="144526"/>
                    <a:pt x="2231771" y="36068"/>
                    <a:pt x="2096897" y="36068"/>
                  </a:cubicBezTo>
                  <a:lnTo>
                    <a:pt x="280162" y="36068"/>
                  </a:lnTo>
                  <a:lnTo>
                    <a:pt x="280162" y="18034"/>
                  </a:lnTo>
                  <a:lnTo>
                    <a:pt x="280162" y="36068"/>
                  </a:lnTo>
                  <a:cubicBezTo>
                    <a:pt x="145288" y="36068"/>
                    <a:pt x="36068" y="144653"/>
                    <a:pt x="36068" y="278130"/>
                  </a:cubicBezTo>
                  <a:close/>
                </a:path>
              </a:pathLst>
            </a:custGeom>
            <a:solidFill>
              <a:srgbClr val="333333"/>
            </a:solidFill>
          </p:spPr>
        </p:sp>
      </p:grpSp>
      <p:sp>
        <p:nvSpPr>
          <p:cNvPr name="TextBox 17" id="17"/>
          <p:cNvSpPr txBox="true"/>
          <p:nvPr/>
        </p:nvSpPr>
        <p:spPr>
          <a:xfrm rot="0">
            <a:off x="5065776" y="2104644"/>
            <a:ext cx="1377696" cy="304800"/>
          </a:xfrm>
          <a:prstGeom prst="rect">
            <a:avLst/>
          </a:prstGeom>
        </p:spPr>
        <p:txBody>
          <a:bodyPr anchor="t" rtlCol="false" tIns="0" lIns="0" bIns="0" rIns="0">
            <a:spAutoFit/>
          </a:bodyPr>
          <a:lstStyle/>
          <a:p>
            <a:pPr algn="ctr">
              <a:lnSpc>
                <a:spcPts val="2151"/>
              </a:lnSpc>
            </a:pPr>
            <a:r>
              <a:rPr lang="en-US" sz="1793" b="true">
                <a:solidFill>
                  <a:srgbClr val="FFFFFF"/>
                </a:solidFill>
                <a:latin typeface="Calibri (MS) Bold"/>
                <a:ea typeface="Calibri (MS) Bold"/>
                <a:cs typeface="Calibri (MS) Bold"/>
                <a:sym typeface="Calibri (MS) Bold"/>
              </a:rPr>
              <a:t>3. ACP</a:t>
            </a:r>
          </a:p>
        </p:txBody>
      </p:sp>
      <p:sp>
        <p:nvSpPr>
          <p:cNvPr name="TextBox 18" id="18"/>
          <p:cNvSpPr txBox="true"/>
          <p:nvPr/>
        </p:nvSpPr>
        <p:spPr>
          <a:xfrm rot="0">
            <a:off x="5065776" y="2611374"/>
            <a:ext cx="1377696" cy="257175"/>
          </a:xfrm>
          <a:prstGeom prst="rect">
            <a:avLst/>
          </a:prstGeom>
        </p:spPr>
        <p:txBody>
          <a:bodyPr anchor="t" rtlCol="false" tIns="0" lIns="0" bIns="0" rIns="0">
            <a:spAutoFit/>
          </a:bodyPr>
          <a:lstStyle/>
          <a:p>
            <a:pPr algn="ctr">
              <a:lnSpc>
                <a:spcPts val="1895"/>
              </a:lnSpc>
            </a:pPr>
            <a:r>
              <a:rPr lang="en-US" sz="1579">
                <a:solidFill>
                  <a:srgbClr val="FFFFFF"/>
                </a:solidFill>
                <a:latin typeface="Calibri (MS)"/>
                <a:ea typeface="Calibri (MS)"/>
                <a:cs typeface="Calibri (MS)"/>
                <a:sym typeface="Calibri (MS)"/>
              </a:rPr>
              <a:t>6 features</a:t>
            </a:r>
          </a:p>
        </p:txBody>
      </p:sp>
      <p:grpSp>
        <p:nvGrpSpPr>
          <p:cNvPr name="Group 19" id="19"/>
          <p:cNvGrpSpPr/>
          <p:nvPr/>
        </p:nvGrpSpPr>
        <p:grpSpPr>
          <a:xfrm rot="0">
            <a:off x="6911509" y="1937173"/>
            <a:ext cx="1782741" cy="1197525"/>
            <a:chOff x="0" y="0"/>
            <a:chExt cx="2376988" cy="1596700"/>
          </a:xfrm>
        </p:grpSpPr>
        <p:sp>
          <p:nvSpPr>
            <p:cNvPr name="Freeform 20" id="20"/>
            <p:cNvSpPr/>
            <p:nvPr/>
          </p:nvSpPr>
          <p:spPr>
            <a:xfrm flipH="false" flipV="false" rot="0">
              <a:off x="18034" y="18034"/>
              <a:ext cx="2340991" cy="1560576"/>
            </a:xfrm>
            <a:custGeom>
              <a:avLst/>
              <a:gdLst/>
              <a:ahLst/>
              <a:cxnLst/>
              <a:rect r="r" b="b" t="t" l="l"/>
              <a:pathLst>
                <a:path h="1560576" w="2340991">
                  <a:moveTo>
                    <a:pt x="0" y="260096"/>
                  </a:moveTo>
                  <a:cubicBezTo>
                    <a:pt x="0" y="116459"/>
                    <a:pt x="117348" y="0"/>
                    <a:pt x="262128" y="0"/>
                  </a:cubicBezTo>
                  <a:lnTo>
                    <a:pt x="2078863" y="0"/>
                  </a:lnTo>
                  <a:cubicBezTo>
                    <a:pt x="2223643" y="0"/>
                    <a:pt x="2340991" y="116459"/>
                    <a:pt x="2340991" y="260096"/>
                  </a:cubicBezTo>
                  <a:lnTo>
                    <a:pt x="2340991" y="1300480"/>
                  </a:lnTo>
                  <a:cubicBezTo>
                    <a:pt x="2340991" y="1444117"/>
                    <a:pt x="2223643" y="1560576"/>
                    <a:pt x="2078863" y="1560576"/>
                  </a:cubicBezTo>
                  <a:lnTo>
                    <a:pt x="262128" y="1560576"/>
                  </a:lnTo>
                  <a:cubicBezTo>
                    <a:pt x="117348" y="1560576"/>
                    <a:pt x="0" y="1444117"/>
                    <a:pt x="0" y="1300480"/>
                  </a:cubicBezTo>
                  <a:close/>
                </a:path>
              </a:pathLst>
            </a:custGeom>
            <a:solidFill>
              <a:srgbClr val="00B050"/>
            </a:solidFill>
          </p:spPr>
        </p:sp>
        <p:sp>
          <p:nvSpPr>
            <p:cNvPr name="Freeform 21" id="21"/>
            <p:cNvSpPr/>
            <p:nvPr/>
          </p:nvSpPr>
          <p:spPr>
            <a:xfrm flipH="false" flipV="false" rot="0">
              <a:off x="0" y="0"/>
              <a:ext cx="2377059" cy="1596644"/>
            </a:xfrm>
            <a:custGeom>
              <a:avLst/>
              <a:gdLst/>
              <a:ahLst/>
              <a:cxnLst/>
              <a:rect r="r" b="b" t="t" l="l"/>
              <a:pathLst>
                <a:path h="1596644" w="2377059">
                  <a:moveTo>
                    <a:pt x="0" y="278130"/>
                  </a:moveTo>
                  <a:cubicBezTo>
                    <a:pt x="0" y="124460"/>
                    <a:pt x="125603" y="0"/>
                    <a:pt x="280162" y="0"/>
                  </a:cubicBezTo>
                  <a:lnTo>
                    <a:pt x="2096897" y="0"/>
                  </a:lnTo>
                  <a:lnTo>
                    <a:pt x="2096897" y="18034"/>
                  </a:lnTo>
                  <a:lnTo>
                    <a:pt x="2096897" y="0"/>
                  </a:lnTo>
                  <a:cubicBezTo>
                    <a:pt x="2251456" y="0"/>
                    <a:pt x="2377059" y="124460"/>
                    <a:pt x="2377059" y="278130"/>
                  </a:cubicBezTo>
                  <a:lnTo>
                    <a:pt x="2359025" y="278130"/>
                  </a:lnTo>
                  <a:lnTo>
                    <a:pt x="2377059" y="278130"/>
                  </a:lnTo>
                  <a:lnTo>
                    <a:pt x="2377059" y="1318514"/>
                  </a:lnTo>
                  <a:lnTo>
                    <a:pt x="2359025" y="1318514"/>
                  </a:lnTo>
                  <a:lnTo>
                    <a:pt x="2377059" y="1318514"/>
                  </a:lnTo>
                  <a:cubicBezTo>
                    <a:pt x="2377059" y="1472311"/>
                    <a:pt x="2251456" y="1596644"/>
                    <a:pt x="2096897" y="1596644"/>
                  </a:cubicBezTo>
                  <a:lnTo>
                    <a:pt x="2096897" y="1578610"/>
                  </a:lnTo>
                  <a:lnTo>
                    <a:pt x="2096897" y="1596644"/>
                  </a:lnTo>
                  <a:lnTo>
                    <a:pt x="280162" y="1596644"/>
                  </a:lnTo>
                  <a:lnTo>
                    <a:pt x="280162" y="1578610"/>
                  </a:lnTo>
                  <a:lnTo>
                    <a:pt x="280162" y="1596644"/>
                  </a:lnTo>
                  <a:cubicBezTo>
                    <a:pt x="125603" y="1596644"/>
                    <a:pt x="0" y="1472311"/>
                    <a:pt x="0" y="1318514"/>
                  </a:cubicBezTo>
                  <a:lnTo>
                    <a:pt x="0" y="278130"/>
                  </a:lnTo>
                  <a:lnTo>
                    <a:pt x="18034" y="278130"/>
                  </a:lnTo>
                  <a:lnTo>
                    <a:pt x="0" y="278130"/>
                  </a:lnTo>
                  <a:moveTo>
                    <a:pt x="36068" y="278130"/>
                  </a:moveTo>
                  <a:lnTo>
                    <a:pt x="36068" y="1318514"/>
                  </a:lnTo>
                  <a:lnTo>
                    <a:pt x="18034" y="1318514"/>
                  </a:lnTo>
                  <a:lnTo>
                    <a:pt x="36068" y="1318514"/>
                  </a:lnTo>
                  <a:cubicBezTo>
                    <a:pt x="36068" y="1452118"/>
                    <a:pt x="145161" y="1560576"/>
                    <a:pt x="280035" y="1560576"/>
                  </a:cubicBezTo>
                  <a:lnTo>
                    <a:pt x="2096897" y="1560576"/>
                  </a:lnTo>
                  <a:cubicBezTo>
                    <a:pt x="2231771" y="1560576"/>
                    <a:pt x="2340864" y="1452118"/>
                    <a:pt x="2340864" y="1318514"/>
                  </a:cubicBezTo>
                  <a:lnTo>
                    <a:pt x="2340864" y="278130"/>
                  </a:lnTo>
                  <a:cubicBezTo>
                    <a:pt x="2340864" y="144526"/>
                    <a:pt x="2231771" y="36068"/>
                    <a:pt x="2096897" y="36068"/>
                  </a:cubicBezTo>
                  <a:lnTo>
                    <a:pt x="280162" y="36068"/>
                  </a:lnTo>
                  <a:lnTo>
                    <a:pt x="280162" y="18034"/>
                  </a:lnTo>
                  <a:lnTo>
                    <a:pt x="280162" y="36068"/>
                  </a:lnTo>
                  <a:cubicBezTo>
                    <a:pt x="145288" y="36068"/>
                    <a:pt x="36068" y="144653"/>
                    <a:pt x="36068" y="278130"/>
                  </a:cubicBezTo>
                  <a:close/>
                </a:path>
              </a:pathLst>
            </a:custGeom>
            <a:solidFill>
              <a:srgbClr val="333333"/>
            </a:solidFill>
          </p:spPr>
        </p:sp>
      </p:grpSp>
      <p:sp>
        <p:nvSpPr>
          <p:cNvPr name="TextBox 22" id="22"/>
          <p:cNvSpPr txBox="true"/>
          <p:nvPr/>
        </p:nvSpPr>
        <p:spPr>
          <a:xfrm rot="0">
            <a:off x="7114032" y="2104644"/>
            <a:ext cx="1377696" cy="304800"/>
          </a:xfrm>
          <a:prstGeom prst="rect">
            <a:avLst/>
          </a:prstGeom>
        </p:spPr>
        <p:txBody>
          <a:bodyPr anchor="t" rtlCol="false" tIns="0" lIns="0" bIns="0" rIns="0">
            <a:spAutoFit/>
          </a:bodyPr>
          <a:lstStyle/>
          <a:p>
            <a:pPr algn="ctr">
              <a:lnSpc>
                <a:spcPts val="2151"/>
              </a:lnSpc>
            </a:pPr>
            <a:r>
              <a:rPr lang="en-US" sz="1793" b="true">
                <a:solidFill>
                  <a:srgbClr val="FFFFFF"/>
                </a:solidFill>
                <a:latin typeface="Calibri (MS) Bold"/>
                <a:ea typeface="Calibri (MS) Bold"/>
                <a:cs typeface="Calibri (MS) Bold"/>
                <a:sym typeface="Calibri (MS) Bold"/>
              </a:rPr>
              <a:t>4. KNN (k=25)</a:t>
            </a:r>
          </a:p>
        </p:txBody>
      </p:sp>
      <p:sp>
        <p:nvSpPr>
          <p:cNvPr name="TextBox 23" id="23"/>
          <p:cNvSpPr txBox="true"/>
          <p:nvPr/>
        </p:nvSpPr>
        <p:spPr>
          <a:xfrm rot="0">
            <a:off x="7114032" y="2611374"/>
            <a:ext cx="1377696" cy="495300"/>
          </a:xfrm>
          <a:prstGeom prst="rect">
            <a:avLst/>
          </a:prstGeom>
        </p:spPr>
        <p:txBody>
          <a:bodyPr anchor="t" rtlCol="false" tIns="0" lIns="0" bIns="0" rIns="0">
            <a:spAutoFit/>
          </a:bodyPr>
          <a:lstStyle/>
          <a:p>
            <a:pPr algn="ctr">
              <a:lnSpc>
                <a:spcPts val="1895"/>
              </a:lnSpc>
            </a:pPr>
            <a:r>
              <a:rPr lang="en-US" sz="1579">
                <a:solidFill>
                  <a:srgbClr val="FFFFFF"/>
                </a:solidFill>
                <a:latin typeface="Calibri (MS)"/>
                <a:ea typeface="Calibri (MS)"/>
                <a:cs typeface="Calibri (MS)"/>
                <a:sym typeface="Calibri (MS)"/>
              </a:rPr>
              <a:t>Distance Euclidienne</a:t>
            </a:r>
          </a:p>
        </p:txBody>
      </p:sp>
      <p:sp>
        <p:nvSpPr>
          <p:cNvPr name="TextBox 24" id="24"/>
          <p:cNvSpPr txBox="true"/>
          <p:nvPr/>
        </p:nvSpPr>
        <p:spPr>
          <a:xfrm rot="0">
            <a:off x="858181" y="3581400"/>
            <a:ext cx="8010144" cy="3505200"/>
          </a:xfrm>
          <a:prstGeom prst="rect">
            <a:avLst/>
          </a:prstGeom>
        </p:spPr>
        <p:txBody>
          <a:bodyPr anchor="t" rtlCol="false" tIns="0" lIns="0" bIns="0" rIns="0">
            <a:spAutoFit/>
          </a:bodyPr>
          <a:lstStyle/>
          <a:p>
            <a:pPr algn="l">
              <a:lnSpc>
                <a:spcPts val="2535"/>
              </a:lnSpc>
            </a:pPr>
            <a:r>
              <a:rPr lang="en-US" sz="2113">
                <a:solidFill>
                  <a:srgbClr val="404040"/>
                </a:solidFill>
                <a:latin typeface="Calibri (MS)"/>
                <a:ea typeface="Calibri (MS)"/>
                <a:cs typeface="Calibri (MS)"/>
                <a:sym typeface="Calibri (MS)"/>
              </a:rPr>
              <a:t>🔧 Prétraitement : Standardisation robuste pour normaliser les différentes échelles</a:t>
            </a:r>
          </a:p>
          <a:p>
            <a:pPr algn="l">
              <a:lnSpc>
                <a:spcPts val="2535"/>
              </a:lnSpc>
            </a:pPr>
          </a:p>
          <a:p>
            <a:pPr algn="l">
              <a:lnSpc>
                <a:spcPts val="2535"/>
              </a:lnSpc>
            </a:pPr>
            <a:r>
              <a:rPr lang="en-US" sz="2113">
                <a:solidFill>
                  <a:srgbClr val="404040"/>
                </a:solidFill>
                <a:latin typeface="Calibri (MS)"/>
                <a:ea typeface="Calibri (MS)"/>
                <a:cs typeface="Calibri (MS)"/>
                <a:sym typeface="Calibri (MS)"/>
              </a:rPr>
              <a:t>📉 Réduction : ACP pour capturer 95% de la variance avec &lt;1% des features</a:t>
            </a:r>
          </a:p>
          <a:p>
            <a:pPr algn="l">
              <a:lnSpc>
                <a:spcPts val="2535"/>
              </a:lnSpc>
            </a:pPr>
          </a:p>
          <a:p>
            <a:pPr algn="l">
              <a:lnSpc>
                <a:spcPts val="2535"/>
              </a:lnSpc>
            </a:pPr>
            <a:r>
              <a:rPr lang="en-US" sz="2113">
                <a:solidFill>
                  <a:srgbClr val="404040"/>
                </a:solidFill>
                <a:latin typeface="Calibri (MS)"/>
                <a:ea typeface="Calibri (MS)"/>
                <a:cs typeface="Calibri (MS)"/>
                <a:sym typeface="Calibri (MS)"/>
              </a:rPr>
              <a:t>🎯 Classification : Vote pondéré par inverse de distance pour predictions fiables</a:t>
            </a:r>
          </a:p>
          <a:p>
            <a:pPr algn="l">
              <a:lnSpc>
                <a:spcPts val="2535"/>
              </a:lnSpc>
            </a:pPr>
          </a:p>
          <a:p>
            <a:pPr algn="l">
              <a:lnSpc>
                <a:spcPts val="2535"/>
              </a:lnSpc>
            </a:pPr>
            <a:r>
              <a:rPr lang="en-US" sz="2113">
                <a:solidFill>
                  <a:srgbClr val="404040"/>
                </a:solidFill>
                <a:latin typeface="Calibri (MS)"/>
                <a:ea typeface="Calibri (MS)"/>
                <a:cs typeface="Calibri (MS)"/>
                <a:sym typeface="Calibri (MS)"/>
              </a:rPr>
              <a:t>✅ Validation : 5-Fold CV pour sélection k, test set indépendant pour évaluation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Recherche d'Hyperparamètres : Valeur de k</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775208" y="6334760"/>
            <a:ext cx="8203184" cy="692912"/>
            <a:chOff x="0" y="0"/>
            <a:chExt cx="10937579" cy="923883"/>
          </a:xfrm>
        </p:grpSpPr>
        <p:sp>
          <p:nvSpPr>
            <p:cNvPr name="Freeform 5" id="5"/>
            <p:cNvSpPr/>
            <p:nvPr/>
          </p:nvSpPr>
          <p:spPr>
            <a:xfrm flipH="false" flipV="false" rot="0">
              <a:off x="6731" y="6731"/>
              <a:ext cx="10924032" cy="910463"/>
            </a:xfrm>
            <a:custGeom>
              <a:avLst/>
              <a:gdLst/>
              <a:ahLst/>
              <a:cxnLst/>
              <a:rect r="r" b="b" t="t" l="l"/>
              <a:pathLst>
                <a:path h="910463" w="10924032">
                  <a:moveTo>
                    <a:pt x="0" y="151765"/>
                  </a:moveTo>
                  <a:cubicBezTo>
                    <a:pt x="0" y="67945"/>
                    <a:pt x="68961" y="0"/>
                    <a:pt x="153797" y="0"/>
                  </a:cubicBezTo>
                  <a:lnTo>
                    <a:pt x="10770235" y="0"/>
                  </a:lnTo>
                  <a:cubicBezTo>
                    <a:pt x="10855198" y="0"/>
                    <a:pt x="10924032" y="67945"/>
                    <a:pt x="10924032" y="151765"/>
                  </a:cubicBezTo>
                  <a:lnTo>
                    <a:pt x="10924032" y="758698"/>
                  </a:lnTo>
                  <a:cubicBezTo>
                    <a:pt x="10924032" y="842518"/>
                    <a:pt x="10855198" y="910463"/>
                    <a:pt x="10770235" y="910463"/>
                  </a:cubicBezTo>
                  <a:lnTo>
                    <a:pt x="153797" y="910463"/>
                  </a:lnTo>
                  <a:cubicBezTo>
                    <a:pt x="68961" y="910336"/>
                    <a:pt x="0" y="842391"/>
                    <a:pt x="0" y="758698"/>
                  </a:cubicBezTo>
                  <a:close/>
                </a:path>
              </a:pathLst>
            </a:custGeom>
            <a:solidFill>
              <a:srgbClr val="00B050"/>
            </a:solidFill>
          </p:spPr>
        </p:sp>
        <p:sp>
          <p:nvSpPr>
            <p:cNvPr name="Freeform 6" id="6"/>
            <p:cNvSpPr/>
            <p:nvPr/>
          </p:nvSpPr>
          <p:spPr>
            <a:xfrm flipH="false" flipV="false" rot="0">
              <a:off x="0" y="0"/>
              <a:ext cx="10937494" cy="923925"/>
            </a:xfrm>
            <a:custGeom>
              <a:avLst/>
              <a:gdLst/>
              <a:ahLst/>
              <a:cxnLst/>
              <a:rect r="r" b="b" t="t" l="l"/>
              <a:pathLst>
                <a:path h="923925" w="10937494">
                  <a:moveTo>
                    <a:pt x="0" y="158496"/>
                  </a:moveTo>
                  <a:cubicBezTo>
                    <a:pt x="0" y="70866"/>
                    <a:pt x="72009" y="0"/>
                    <a:pt x="160528" y="0"/>
                  </a:cubicBezTo>
                  <a:lnTo>
                    <a:pt x="10776966" y="0"/>
                  </a:lnTo>
                  <a:lnTo>
                    <a:pt x="10776966" y="6731"/>
                  </a:lnTo>
                  <a:lnTo>
                    <a:pt x="10776966" y="0"/>
                  </a:lnTo>
                  <a:cubicBezTo>
                    <a:pt x="10865612" y="0"/>
                    <a:pt x="10937494" y="70866"/>
                    <a:pt x="10937494" y="158496"/>
                  </a:cubicBezTo>
                  <a:lnTo>
                    <a:pt x="10930763" y="158496"/>
                  </a:lnTo>
                  <a:lnTo>
                    <a:pt x="10937494" y="158496"/>
                  </a:lnTo>
                  <a:lnTo>
                    <a:pt x="10937494" y="765429"/>
                  </a:lnTo>
                  <a:lnTo>
                    <a:pt x="10930763" y="765429"/>
                  </a:lnTo>
                  <a:lnTo>
                    <a:pt x="10937494" y="765429"/>
                  </a:lnTo>
                  <a:cubicBezTo>
                    <a:pt x="10937494" y="853059"/>
                    <a:pt x="10865485" y="923925"/>
                    <a:pt x="10776966" y="923925"/>
                  </a:cubicBezTo>
                  <a:lnTo>
                    <a:pt x="10776966" y="917194"/>
                  </a:lnTo>
                  <a:lnTo>
                    <a:pt x="10776966" y="923925"/>
                  </a:lnTo>
                  <a:lnTo>
                    <a:pt x="160528" y="923925"/>
                  </a:lnTo>
                  <a:lnTo>
                    <a:pt x="160528" y="917194"/>
                  </a:lnTo>
                  <a:lnTo>
                    <a:pt x="160528" y="923925"/>
                  </a:lnTo>
                  <a:cubicBezTo>
                    <a:pt x="72009" y="923925"/>
                    <a:pt x="0" y="853059"/>
                    <a:pt x="0" y="765429"/>
                  </a:cubicBezTo>
                  <a:lnTo>
                    <a:pt x="0" y="158496"/>
                  </a:lnTo>
                  <a:lnTo>
                    <a:pt x="6731" y="158496"/>
                  </a:lnTo>
                  <a:lnTo>
                    <a:pt x="0" y="158496"/>
                  </a:lnTo>
                  <a:moveTo>
                    <a:pt x="13589" y="158496"/>
                  </a:moveTo>
                  <a:lnTo>
                    <a:pt x="13589" y="765429"/>
                  </a:lnTo>
                  <a:lnTo>
                    <a:pt x="6731" y="765429"/>
                  </a:lnTo>
                  <a:lnTo>
                    <a:pt x="13462" y="765429"/>
                  </a:lnTo>
                  <a:cubicBezTo>
                    <a:pt x="13462" y="845439"/>
                    <a:pt x="79248" y="910336"/>
                    <a:pt x="160528" y="910336"/>
                  </a:cubicBezTo>
                  <a:lnTo>
                    <a:pt x="10776966" y="910336"/>
                  </a:lnTo>
                  <a:cubicBezTo>
                    <a:pt x="10858247" y="910336"/>
                    <a:pt x="10924032" y="845312"/>
                    <a:pt x="10924032" y="765429"/>
                  </a:cubicBezTo>
                  <a:lnTo>
                    <a:pt x="10924032" y="158496"/>
                  </a:lnTo>
                  <a:cubicBezTo>
                    <a:pt x="10924032" y="78486"/>
                    <a:pt x="10858247" y="13589"/>
                    <a:pt x="10776966" y="13589"/>
                  </a:cubicBezTo>
                  <a:lnTo>
                    <a:pt x="160528" y="13589"/>
                  </a:lnTo>
                  <a:lnTo>
                    <a:pt x="160528" y="6731"/>
                  </a:lnTo>
                  <a:lnTo>
                    <a:pt x="160528" y="13462"/>
                  </a:lnTo>
                  <a:cubicBezTo>
                    <a:pt x="79248" y="13462"/>
                    <a:pt x="13462" y="78486"/>
                    <a:pt x="13462" y="158369"/>
                  </a:cubicBezTo>
                  <a:close/>
                </a:path>
              </a:pathLst>
            </a:custGeom>
            <a:solidFill>
              <a:srgbClr val="4A7EBB"/>
            </a:solidFill>
          </p:spPr>
        </p:sp>
      </p:grpSp>
      <p:sp>
        <p:nvSpPr>
          <p:cNvPr name="TextBox 7" id="7"/>
          <p:cNvSpPr txBox="true"/>
          <p:nvPr/>
        </p:nvSpPr>
        <p:spPr>
          <a:xfrm rot="0">
            <a:off x="1066800" y="6444996"/>
            <a:ext cx="7620000" cy="434340"/>
          </a:xfrm>
          <a:prstGeom prst="rect">
            <a:avLst/>
          </a:prstGeom>
        </p:spPr>
        <p:txBody>
          <a:bodyPr anchor="t" rtlCol="false" tIns="0" lIns="0" bIns="0" rIns="0">
            <a:spAutoFit/>
          </a:bodyPr>
          <a:lstStyle/>
          <a:p>
            <a:pPr algn="ctr">
              <a:lnSpc>
                <a:spcPts val="2047"/>
              </a:lnSpc>
            </a:pPr>
            <a:r>
              <a:rPr lang="en-US" sz="1706" b="true">
                <a:solidFill>
                  <a:srgbClr val="FFFFFF"/>
                </a:solidFill>
                <a:latin typeface="Calibri (MS) Bold"/>
                <a:ea typeface="Calibri (MS) Bold"/>
                <a:cs typeface="Calibri (MS) Bold"/>
                <a:sym typeface="Calibri (MS) Bold"/>
              </a:rPr>
              <a:t>🎯 k optimal = 25 | Trade-off entre biais et variance | Performance stable entre k=21-31</a:t>
            </a:r>
          </a:p>
        </p:txBody>
      </p:sp>
      <p:grpSp>
        <p:nvGrpSpPr>
          <p:cNvPr name="Group 8" id="8"/>
          <p:cNvGrpSpPr>
            <a:grpSpLocks noChangeAspect="true"/>
          </p:cNvGrpSpPr>
          <p:nvPr/>
        </p:nvGrpSpPr>
        <p:grpSpPr>
          <a:xfrm rot="0">
            <a:off x="975360" y="1285113"/>
            <a:ext cx="7802880" cy="4876800"/>
            <a:chOff x="0" y="0"/>
            <a:chExt cx="10403840" cy="6502400"/>
          </a:xfrm>
        </p:grpSpPr>
        <p:sp>
          <p:nvSpPr>
            <p:cNvPr name="Freeform 9" id="9" descr="image.png"/>
            <p:cNvSpPr/>
            <p:nvPr/>
          </p:nvSpPr>
          <p:spPr>
            <a:xfrm flipH="false" flipV="false" rot="0">
              <a:off x="0" y="0"/>
              <a:ext cx="10403840" cy="6502400"/>
            </a:xfrm>
            <a:custGeom>
              <a:avLst/>
              <a:gdLst/>
              <a:ahLst/>
              <a:cxnLst/>
              <a:rect r="r" b="b" t="t" l="l"/>
              <a:pathLst>
                <a:path h="6502400" w="10403840">
                  <a:moveTo>
                    <a:pt x="0" y="0"/>
                  </a:moveTo>
                  <a:lnTo>
                    <a:pt x="10403840" y="0"/>
                  </a:lnTo>
                  <a:lnTo>
                    <a:pt x="10403840" y="6502400"/>
                  </a:lnTo>
                  <a:lnTo>
                    <a:pt x="0" y="6502400"/>
                  </a:lnTo>
                  <a:lnTo>
                    <a:pt x="0" y="0"/>
                  </a:lnTo>
                  <a:close/>
                </a:path>
              </a:pathLst>
            </a:custGeom>
            <a:blipFill>
              <a:blip r:embed="rId2"/>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Résultats Finaux sur Ensemble de Test</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521970" y="1738418"/>
            <a:ext cx="2741168" cy="1765808"/>
            <a:chOff x="0" y="0"/>
            <a:chExt cx="3654891" cy="2354411"/>
          </a:xfrm>
        </p:grpSpPr>
        <p:sp>
          <p:nvSpPr>
            <p:cNvPr name="Freeform 5" id="5"/>
            <p:cNvSpPr/>
            <p:nvPr/>
          </p:nvSpPr>
          <p:spPr>
            <a:xfrm flipH="false" flipV="false" rot="0">
              <a:off x="6731" y="6731"/>
              <a:ext cx="3641344" cy="2340864"/>
            </a:xfrm>
            <a:custGeom>
              <a:avLst/>
              <a:gdLst/>
              <a:ahLst/>
              <a:cxnLst/>
              <a:rect r="r" b="b" t="t" l="l"/>
              <a:pathLst>
                <a:path h="2340864" w="3641344">
                  <a:moveTo>
                    <a:pt x="0" y="390144"/>
                  </a:moveTo>
                  <a:cubicBezTo>
                    <a:pt x="0" y="174752"/>
                    <a:pt x="175133" y="0"/>
                    <a:pt x="391033" y="0"/>
                  </a:cubicBezTo>
                  <a:lnTo>
                    <a:pt x="3250438" y="0"/>
                  </a:lnTo>
                  <a:cubicBezTo>
                    <a:pt x="3466338" y="0"/>
                    <a:pt x="3641344" y="174625"/>
                    <a:pt x="3641344" y="390144"/>
                  </a:cubicBezTo>
                  <a:lnTo>
                    <a:pt x="3641344" y="1950720"/>
                  </a:lnTo>
                  <a:cubicBezTo>
                    <a:pt x="3641344" y="2166239"/>
                    <a:pt x="3466338" y="2340864"/>
                    <a:pt x="3250438" y="2340864"/>
                  </a:cubicBezTo>
                  <a:lnTo>
                    <a:pt x="391033" y="2340864"/>
                  </a:lnTo>
                  <a:cubicBezTo>
                    <a:pt x="175133" y="2340864"/>
                    <a:pt x="127" y="2166239"/>
                    <a:pt x="127" y="1950720"/>
                  </a:cubicBezTo>
                  <a:close/>
                </a:path>
              </a:pathLst>
            </a:custGeom>
            <a:solidFill>
              <a:srgbClr val="00B050"/>
            </a:solidFill>
          </p:spPr>
        </p:sp>
        <p:sp>
          <p:nvSpPr>
            <p:cNvPr name="Freeform 6" id="6"/>
            <p:cNvSpPr/>
            <p:nvPr/>
          </p:nvSpPr>
          <p:spPr>
            <a:xfrm flipH="false" flipV="false" rot="0">
              <a:off x="0" y="0"/>
              <a:ext cx="3654933" cy="2354453"/>
            </a:xfrm>
            <a:custGeom>
              <a:avLst/>
              <a:gdLst/>
              <a:ahLst/>
              <a:cxnLst/>
              <a:rect r="r" b="b" t="t" l="l"/>
              <a:pathLst>
                <a:path h="2354453" w="3654933">
                  <a:moveTo>
                    <a:pt x="0" y="396875"/>
                  </a:moveTo>
                  <a:cubicBezTo>
                    <a:pt x="0" y="177673"/>
                    <a:pt x="178054" y="0"/>
                    <a:pt x="397764" y="0"/>
                  </a:cubicBezTo>
                  <a:lnTo>
                    <a:pt x="3257169" y="0"/>
                  </a:lnTo>
                  <a:lnTo>
                    <a:pt x="3257169" y="6731"/>
                  </a:lnTo>
                  <a:lnTo>
                    <a:pt x="3257169" y="0"/>
                  </a:lnTo>
                  <a:cubicBezTo>
                    <a:pt x="3476752" y="0"/>
                    <a:pt x="3654933" y="177673"/>
                    <a:pt x="3654933" y="396875"/>
                  </a:cubicBezTo>
                  <a:lnTo>
                    <a:pt x="3648202" y="396875"/>
                  </a:lnTo>
                  <a:lnTo>
                    <a:pt x="3654933" y="396875"/>
                  </a:lnTo>
                  <a:lnTo>
                    <a:pt x="3654933" y="1957451"/>
                  </a:lnTo>
                  <a:lnTo>
                    <a:pt x="3648202" y="1957451"/>
                  </a:lnTo>
                  <a:lnTo>
                    <a:pt x="3654933" y="1957451"/>
                  </a:lnTo>
                  <a:cubicBezTo>
                    <a:pt x="3654933" y="2176653"/>
                    <a:pt x="3476879" y="2354326"/>
                    <a:pt x="3257169" y="2354326"/>
                  </a:cubicBezTo>
                  <a:lnTo>
                    <a:pt x="3257169" y="2347595"/>
                  </a:lnTo>
                  <a:lnTo>
                    <a:pt x="3257169" y="2354326"/>
                  </a:lnTo>
                  <a:lnTo>
                    <a:pt x="397764" y="2354326"/>
                  </a:lnTo>
                  <a:lnTo>
                    <a:pt x="397764" y="2347595"/>
                  </a:lnTo>
                  <a:lnTo>
                    <a:pt x="397764" y="2354326"/>
                  </a:lnTo>
                  <a:cubicBezTo>
                    <a:pt x="178054" y="2354453"/>
                    <a:pt x="0" y="2176653"/>
                    <a:pt x="0" y="1957451"/>
                  </a:cubicBezTo>
                  <a:lnTo>
                    <a:pt x="0" y="396875"/>
                  </a:lnTo>
                  <a:lnTo>
                    <a:pt x="6731" y="396875"/>
                  </a:lnTo>
                  <a:lnTo>
                    <a:pt x="0" y="396875"/>
                  </a:lnTo>
                  <a:moveTo>
                    <a:pt x="13589" y="396875"/>
                  </a:moveTo>
                  <a:lnTo>
                    <a:pt x="13589" y="1957451"/>
                  </a:lnTo>
                  <a:lnTo>
                    <a:pt x="6731" y="1957451"/>
                  </a:lnTo>
                  <a:lnTo>
                    <a:pt x="13462" y="1957451"/>
                  </a:lnTo>
                  <a:cubicBezTo>
                    <a:pt x="13462" y="2169160"/>
                    <a:pt x="185420" y="2340864"/>
                    <a:pt x="397637" y="2340864"/>
                  </a:cubicBezTo>
                  <a:lnTo>
                    <a:pt x="3257169" y="2340864"/>
                  </a:lnTo>
                  <a:cubicBezTo>
                    <a:pt x="3469386" y="2340864"/>
                    <a:pt x="3641344" y="2169160"/>
                    <a:pt x="3641344" y="1957451"/>
                  </a:cubicBezTo>
                  <a:lnTo>
                    <a:pt x="3641344" y="396875"/>
                  </a:lnTo>
                  <a:cubicBezTo>
                    <a:pt x="3641344" y="185166"/>
                    <a:pt x="3469386" y="13462"/>
                    <a:pt x="3257169" y="13462"/>
                  </a:cubicBezTo>
                  <a:lnTo>
                    <a:pt x="397764" y="13462"/>
                  </a:lnTo>
                  <a:lnTo>
                    <a:pt x="397764" y="6731"/>
                  </a:lnTo>
                  <a:lnTo>
                    <a:pt x="397764" y="13462"/>
                  </a:lnTo>
                  <a:cubicBezTo>
                    <a:pt x="185547" y="13589"/>
                    <a:pt x="13589" y="185166"/>
                    <a:pt x="13589" y="396875"/>
                  </a:cubicBezTo>
                  <a:close/>
                </a:path>
              </a:pathLst>
            </a:custGeom>
            <a:solidFill>
              <a:srgbClr val="4A7EBB"/>
            </a:solidFill>
          </p:spPr>
        </p:sp>
      </p:grpSp>
      <p:sp>
        <p:nvSpPr>
          <p:cNvPr name="TextBox 7" id="7"/>
          <p:cNvSpPr txBox="true"/>
          <p:nvPr/>
        </p:nvSpPr>
        <p:spPr>
          <a:xfrm rot="0">
            <a:off x="706501" y="1801029"/>
            <a:ext cx="2548128" cy="481965"/>
          </a:xfrm>
          <a:prstGeom prst="rect">
            <a:avLst/>
          </a:prstGeom>
        </p:spPr>
        <p:txBody>
          <a:bodyPr anchor="t" rtlCol="false" tIns="0" lIns="0" bIns="0" rIns="0">
            <a:spAutoFit/>
          </a:bodyPr>
          <a:lstStyle/>
          <a:p>
            <a:pPr algn="ctr">
              <a:lnSpc>
                <a:spcPts val="4608"/>
              </a:lnSpc>
            </a:pPr>
            <a:r>
              <a:rPr lang="en-US" sz="3840">
                <a:solidFill>
                  <a:srgbClr val="000000"/>
                </a:solidFill>
                <a:latin typeface="Calibri (MS)"/>
                <a:ea typeface="Calibri (MS)"/>
                <a:cs typeface="Calibri (MS)"/>
                <a:sym typeface="Calibri (MS)"/>
              </a:rPr>
              <a:t>🎯</a:t>
            </a:r>
          </a:p>
        </p:txBody>
      </p:sp>
      <p:sp>
        <p:nvSpPr>
          <p:cNvPr name="TextBox 8" id="8"/>
          <p:cNvSpPr txBox="true"/>
          <p:nvPr/>
        </p:nvSpPr>
        <p:spPr>
          <a:xfrm rot="0">
            <a:off x="618490" y="2288709"/>
            <a:ext cx="2548128" cy="677037"/>
          </a:xfrm>
          <a:prstGeom prst="rect">
            <a:avLst/>
          </a:prstGeom>
        </p:spPr>
        <p:txBody>
          <a:bodyPr anchor="t" rtlCol="false" tIns="0" lIns="0" bIns="0" rIns="0">
            <a:spAutoFit/>
          </a:bodyPr>
          <a:lstStyle/>
          <a:p>
            <a:pPr algn="ctr">
              <a:lnSpc>
                <a:spcPts val="4608"/>
              </a:lnSpc>
            </a:pPr>
            <a:r>
              <a:rPr lang="en-US" sz="3840" b="true">
                <a:solidFill>
                  <a:srgbClr val="FFFFFF"/>
                </a:solidFill>
                <a:latin typeface="Calibri (MS) Bold"/>
                <a:ea typeface="Calibri (MS) Bold"/>
                <a:cs typeface="Calibri (MS) Bold"/>
                <a:sym typeface="Calibri (MS) Bold"/>
              </a:rPr>
              <a:t>83.61%</a:t>
            </a:r>
          </a:p>
        </p:txBody>
      </p:sp>
      <p:sp>
        <p:nvSpPr>
          <p:cNvPr name="TextBox 9" id="9"/>
          <p:cNvSpPr txBox="true"/>
          <p:nvPr/>
        </p:nvSpPr>
        <p:spPr>
          <a:xfrm rot="0">
            <a:off x="618490" y="3028611"/>
            <a:ext cx="2548128" cy="327279"/>
          </a:xfrm>
          <a:prstGeom prst="rect">
            <a:avLst/>
          </a:prstGeom>
        </p:spPr>
        <p:txBody>
          <a:bodyPr anchor="t" rtlCol="false" tIns="0" lIns="0" bIns="0" rIns="0">
            <a:spAutoFit/>
          </a:bodyPr>
          <a:lstStyle/>
          <a:p>
            <a:pPr algn="ctr">
              <a:lnSpc>
                <a:spcPts val="1791"/>
              </a:lnSpc>
            </a:pPr>
            <a:r>
              <a:rPr lang="en-US" sz="1493">
                <a:solidFill>
                  <a:srgbClr val="FFFFFF"/>
                </a:solidFill>
                <a:latin typeface="Calibri (MS)"/>
                <a:ea typeface="Calibri (MS)"/>
                <a:cs typeface="Calibri (MS)"/>
                <a:sym typeface="Calibri (MS)"/>
              </a:rPr>
              <a:t>Accuracy</a:t>
            </a:r>
          </a:p>
        </p:txBody>
      </p:sp>
      <p:grpSp>
        <p:nvGrpSpPr>
          <p:cNvPr name="Group 10" id="10"/>
          <p:cNvGrpSpPr/>
          <p:nvPr/>
        </p:nvGrpSpPr>
        <p:grpSpPr>
          <a:xfrm rot="0">
            <a:off x="3545586" y="1738418"/>
            <a:ext cx="2741168" cy="1765808"/>
            <a:chOff x="0" y="0"/>
            <a:chExt cx="3654891" cy="2354411"/>
          </a:xfrm>
        </p:grpSpPr>
        <p:sp>
          <p:nvSpPr>
            <p:cNvPr name="Freeform 11" id="11"/>
            <p:cNvSpPr/>
            <p:nvPr/>
          </p:nvSpPr>
          <p:spPr>
            <a:xfrm flipH="false" flipV="false" rot="0">
              <a:off x="6731" y="6731"/>
              <a:ext cx="3641344" cy="2340864"/>
            </a:xfrm>
            <a:custGeom>
              <a:avLst/>
              <a:gdLst/>
              <a:ahLst/>
              <a:cxnLst/>
              <a:rect r="r" b="b" t="t" l="l"/>
              <a:pathLst>
                <a:path h="2340864" w="3641344">
                  <a:moveTo>
                    <a:pt x="0" y="390144"/>
                  </a:moveTo>
                  <a:cubicBezTo>
                    <a:pt x="0" y="174752"/>
                    <a:pt x="175133" y="0"/>
                    <a:pt x="391033" y="0"/>
                  </a:cubicBezTo>
                  <a:lnTo>
                    <a:pt x="3250438" y="0"/>
                  </a:lnTo>
                  <a:cubicBezTo>
                    <a:pt x="3466338" y="0"/>
                    <a:pt x="3641344" y="174625"/>
                    <a:pt x="3641344" y="390144"/>
                  </a:cubicBezTo>
                  <a:lnTo>
                    <a:pt x="3641344" y="1950720"/>
                  </a:lnTo>
                  <a:cubicBezTo>
                    <a:pt x="3641344" y="2166239"/>
                    <a:pt x="3466338" y="2340864"/>
                    <a:pt x="3250438" y="2340864"/>
                  </a:cubicBezTo>
                  <a:lnTo>
                    <a:pt x="391033" y="2340864"/>
                  </a:lnTo>
                  <a:cubicBezTo>
                    <a:pt x="175133" y="2340864"/>
                    <a:pt x="127" y="2166239"/>
                    <a:pt x="127" y="1950720"/>
                  </a:cubicBezTo>
                  <a:close/>
                </a:path>
              </a:pathLst>
            </a:custGeom>
            <a:solidFill>
              <a:srgbClr val="666666"/>
            </a:solidFill>
          </p:spPr>
        </p:sp>
        <p:sp>
          <p:nvSpPr>
            <p:cNvPr name="Freeform 12" id="12"/>
            <p:cNvSpPr/>
            <p:nvPr/>
          </p:nvSpPr>
          <p:spPr>
            <a:xfrm flipH="false" flipV="false" rot="0">
              <a:off x="0" y="0"/>
              <a:ext cx="3654933" cy="2354453"/>
            </a:xfrm>
            <a:custGeom>
              <a:avLst/>
              <a:gdLst/>
              <a:ahLst/>
              <a:cxnLst/>
              <a:rect r="r" b="b" t="t" l="l"/>
              <a:pathLst>
                <a:path h="2354453" w="3654933">
                  <a:moveTo>
                    <a:pt x="0" y="396875"/>
                  </a:moveTo>
                  <a:cubicBezTo>
                    <a:pt x="0" y="177673"/>
                    <a:pt x="178054" y="0"/>
                    <a:pt x="397764" y="0"/>
                  </a:cubicBezTo>
                  <a:lnTo>
                    <a:pt x="3257169" y="0"/>
                  </a:lnTo>
                  <a:lnTo>
                    <a:pt x="3257169" y="6731"/>
                  </a:lnTo>
                  <a:lnTo>
                    <a:pt x="3257169" y="0"/>
                  </a:lnTo>
                  <a:cubicBezTo>
                    <a:pt x="3476752" y="0"/>
                    <a:pt x="3654933" y="177673"/>
                    <a:pt x="3654933" y="396875"/>
                  </a:cubicBezTo>
                  <a:lnTo>
                    <a:pt x="3648202" y="396875"/>
                  </a:lnTo>
                  <a:lnTo>
                    <a:pt x="3654933" y="396875"/>
                  </a:lnTo>
                  <a:lnTo>
                    <a:pt x="3654933" y="1957451"/>
                  </a:lnTo>
                  <a:lnTo>
                    <a:pt x="3648202" y="1957451"/>
                  </a:lnTo>
                  <a:lnTo>
                    <a:pt x="3654933" y="1957451"/>
                  </a:lnTo>
                  <a:cubicBezTo>
                    <a:pt x="3654933" y="2176653"/>
                    <a:pt x="3476879" y="2354326"/>
                    <a:pt x="3257169" y="2354326"/>
                  </a:cubicBezTo>
                  <a:lnTo>
                    <a:pt x="3257169" y="2347595"/>
                  </a:lnTo>
                  <a:lnTo>
                    <a:pt x="3257169" y="2354326"/>
                  </a:lnTo>
                  <a:lnTo>
                    <a:pt x="397764" y="2354326"/>
                  </a:lnTo>
                  <a:lnTo>
                    <a:pt x="397764" y="2347595"/>
                  </a:lnTo>
                  <a:lnTo>
                    <a:pt x="397764" y="2354326"/>
                  </a:lnTo>
                  <a:cubicBezTo>
                    <a:pt x="178054" y="2354453"/>
                    <a:pt x="0" y="2176653"/>
                    <a:pt x="0" y="1957451"/>
                  </a:cubicBezTo>
                  <a:lnTo>
                    <a:pt x="0" y="396875"/>
                  </a:lnTo>
                  <a:lnTo>
                    <a:pt x="6731" y="396875"/>
                  </a:lnTo>
                  <a:lnTo>
                    <a:pt x="0" y="396875"/>
                  </a:lnTo>
                  <a:moveTo>
                    <a:pt x="13589" y="396875"/>
                  </a:moveTo>
                  <a:lnTo>
                    <a:pt x="13589" y="1957451"/>
                  </a:lnTo>
                  <a:lnTo>
                    <a:pt x="6731" y="1957451"/>
                  </a:lnTo>
                  <a:lnTo>
                    <a:pt x="13462" y="1957451"/>
                  </a:lnTo>
                  <a:cubicBezTo>
                    <a:pt x="13462" y="2169160"/>
                    <a:pt x="185420" y="2340864"/>
                    <a:pt x="397637" y="2340864"/>
                  </a:cubicBezTo>
                  <a:lnTo>
                    <a:pt x="3257169" y="2340864"/>
                  </a:lnTo>
                  <a:cubicBezTo>
                    <a:pt x="3469386" y="2340864"/>
                    <a:pt x="3641344" y="2169160"/>
                    <a:pt x="3641344" y="1957451"/>
                  </a:cubicBezTo>
                  <a:lnTo>
                    <a:pt x="3641344" y="396875"/>
                  </a:lnTo>
                  <a:cubicBezTo>
                    <a:pt x="3641344" y="185166"/>
                    <a:pt x="3469386" y="13462"/>
                    <a:pt x="3257169" y="13462"/>
                  </a:cubicBezTo>
                  <a:lnTo>
                    <a:pt x="397764" y="13462"/>
                  </a:lnTo>
                  <a:lnTo>
                    <a:pt x="397764" y="6731"/>
                  </a:lnTo>
                  <a:lnTo>
                    <a:pt x="397764" y="13462"/>
                  </a:lnTo>
                  <a:cubicBezTo>
                    <a:pt x="185547" y="13589"/>
                    <a:pt x="13589" y="185166"/>
                    <a:pt x="13589" y="396875"/>
                  </a:cubicBezTo>
                  <a:close/>
                </a:path>
              </a:pathLst>
            </a:custGeom>
            <a:solidFill>
              <a:srgbClr val="4A7EBB"/>
            </a:solidFill>
          </p:spPr>
        </p:sp>
      </p:grpSp>
      <p:sp>
        <p:nvSpPr>
          <p:cNvPr name="TextBox 13" id="13"/>
          <p:cNvSpPr txBox="true"/>
          <p:nvPr/>
        </p:nvSpPr>
        <p:spPr>
          <a:xfrm rot="0">
            <a:off x="3711067" y="1730544"/>
            <a:ext cx="2548128" cy="481965"/>
          </a:xfrm>
          <a:prstGeom prst="rect">
            <a:avLst/>
          </a:prstGeom>
        </p:spPr>
        <p:txBody>
          <a:bodyPr anchor="t" rtlCol="false" tIns="0" lIns="0" bIns="0" rIns="0">
            <a:spAutoFit/>
          </a:bodyPr>
          <a:lstStyle/>
          <a:p>
            <a:pPr algn="ctr">
              <a:lnSpc>
                <a:spcPts val="4608"/>
              </a:lnSpc>
            </a:pPr>
            <a:r>
              <a:rPr lang="en-US" sz="3840">
                <a:solidFill>
                  <a:srgbClr val="000000"/>
                </a:solidFill>
                <a:latin typeface="Calibri (MS)"/>
                <a:ea typeface="Calibri (MS)"/>
                <a:cs typeface="Calibri (MS)"/>
                <a:sym typeface="Calibri (MS)"/>
              </a:rPr>
              <a:t>⚖️</a:t>
            </a:r>
          </a:p>
        </p:txBody>
      </p:sp>
      <p:sp>
        <p:nvSpPr>
          <p:cNvPr name="TextBox 14" id="14"/>
          <p:cNvSpPr txBox="true"/>
          <p:nvPr/>
        </p:nvSpPr>
        <p:spPr>
          <a:xfrm rot="0">
            <a:off x="3642106" y="2288709"/>
            <a:ext cx="2548128" cy="677037"/>
          </a:xfrm>
          <a:prstGeom prst="rect">
            <a:avLst/>
          </a:prstGeom>
        </p:spPr>
        <p:txBody>
          <a:bodyPr anchor="t" rtlCol="false" tIns="0" lIns="0" bIns="0" rIns="0">
            <a:spAutoFit/>
          </a:bodyPr>
          <a:lstStyle/>
          <a:p>
            <a:pPr algn="ctr">
              <a:lnSpc>
                <a:spcPts val="4608"/>
              </a:lnSpc>
            </a:pPr>
            <a:r>
              <a:rPr lang="en-US" sz="3840" b="true">
                <a:solidFill>
                  <a:srgbClr val="FFFFFF"/>
                </a:solidFill>
                <a:latin typeface="Calibri (MS) Bold"/>
                <a:ea typeface="Calibri (MS) Bold"/>
                <a:cs typeface="Calibri (MS) Bold"/>
                <a:sym typeface="Calibri (MS) Bold"/>
              </a:rPr>
              <a:t>83.45%</a:t>
            </a:r>
          </a:p>
        </p:txBody>
      </p:sp>
      <p:sp>
        <p:nvSpPr>
          <p:cNvPr name="TextBox 15" id="15"/>
          <p:cNvSpPr txBox="true"/>
          <p:nvPr/>
        </p:nvSpPr>
        <p:spPr>
          <a:xfrm rot="0">
            <a:off x="3642106" y="3028611"/>
            <a:ext cx="2548128" cy="327279"/>
          </a:xfrm>
          <a:prstGeom prst="rect">
            <a:avLst/>
          </a:prstGeom>
        </p:spPr>
        <p:txBody>
          <a:bodyPr anchor="t" rtlCol="false" tIns="0" lIns="0" bIns="0" rIns="0">
            <a:spAutoFit/>
          </a:bodyPr>
          <a:lstStyle/>
          <a:p>
            <a:pPr algn="ctr">
              <a:lnSpc>
                <a:spcPts val="1791"/>
              </a:lnSpc>
            </a:pPr>
            <a:r>
              <a:rPr lang="en-US" sz="1493">
                <a:solidFill>
                  <a:srgbClr val="FFFFFF"/>
                </a:solidFill>
                <a:latin typeface="Calibri (MS)"/>
                <a:ea typeface="Calibri (MS)"/>
                <a:cs typeface="Calibri (MS)"/>
                <a:sym typeface="Calibri (MS)"/>
              </a:rPr>
              <a:t>F1-Score</a:t>
            </a:r>
          </a:p>
        </p:txBody>
      </p:sp>
      <p:grpSp>
        <p:nvGrpSpPr>
          <p:cNvPr name="Group 16" id="16"/>
          <p:cNvGrpSpPr/>
          <p:nvPr/>
        </p:nvGrpSpPr>
        <p:grpSpPr>
          <a:xfrm rot="0">
            <a:off x="6569202" y="1738418"/>
            <a:ext cx="2741168" cy="1765808"/>
            <a:chOff x="0" y="0"/>
            <a:chExt cx="3654891" cy="2354411"/>
          </a:xfrm>
        </p:grpSpPr>
        <p:sp>
          <p:nvSpPr>
            <p:cNvPr name="Freeform 17" id="17"/>
            <p:cNvSpPr/>
            <p:nvPr/>
          </p:nvSpPr>
          <p:spPr>
            <a:xfrm flipH="false" flipV="false" rot="0">
              <a:off x="6731" y="6731"/>
              <a:ext cx="3641344" cy="2340864"/>
            </a:xfrm>
            <a:custGeom>
              <a:avLst/>
              <a:gdLst/>
              <a:ahLst/>
              <a:cxnLst/>
              <a:rect r="r" b="b" t="t" l="l"/>
              <a:pathLst>
                <a:path h="2340864" w="3641344">
                  <a:moveTo>
                    <a:pt x="0" y="390144"/>
                  </a:moveTo>
                  <a:cubicBezTo>
                    <a:pt x="0" y="174752"/>
                    <a:pt x="175133" y="0"/>
                    <a:pt x="391033" y="0"/>
                  </a:cubicBezTo>
                  <a:lnTo>
                    <a:pt x="3250438" y="0"/>
                  </a:lnTo>
                  <a:cubicBezTo>
                    <a:pt x="3466338" y="0"/>
                    <a:pt x="3641344" y="174625"/>
                    <a:pt x="3641344" y="390144"/>
                  </a:cubicBezTo>
                  <a:lnTo>
                    <a:pt x="3641344" y="1950720"/>
                  </a:lnTo>
                  <a:cubicBezTo>
                    <a:pt x="3641344" y="2166239"/>
                    <a:pt x="3466338" y="2340864"/>
                    <a:pt x="3250438" y="2340864"/>
                  </a:cubicBezTo>
                  <a:lnTo>
                    <a:pt x="391033" y="2340864"/>
                  </a:lnTo>
                  <a:cubicBezTo>
                    <a:pt x="175133" y="2340864"/>
                    <a:pt x="127" y="2166239"/>
                    <a:pt x="127" y="1950720"/>
                  </a:cubicBezTo>
                  <a:close/>
                </a:path>
              </a:pathLst>
            </a:custGeom>
            <a:solidFill>
              <a:srgbClr val="00B0F0"/>
            </a:solidFill>
          </p:spPr>
        </p:sp>
        <p:sp>
          <p:nvSpPr>
            <p:cNvPr name="Freeform 18" id="18"/>
            <p:cNvSpPr/>
            <p:nvPr/>
          </p:nvSpPr>
          <p:spPr>
            <a:xfrm flipH="false" flipV="false" rot="0">
              <a:off x="0" y="0"/>
              <a:ext cx="3654933" cy="2354453"/>
            </a:xfrm>
            <a:custGeom>
              <a:avLst/>
              <a:gdLst/>
              <a:ahLst/>
              <a:cxnLst/>
              <a:rect r="r" b="b" t="t" l="l"/>
              <a:pathLst>
                <a:path h="2354453" w="3654933">
                  <a:moveTo>
                    <a:pt x="0" y="396875"/>
                  </a:moveTo>
                  <a:cubicBezTo>
                    <a:pt x="0" y="177673"/>
                    <a:pt x="178054" y="0"/>
                    <a:pt x="397764" y="0"/>
                  </a:cubicBezTo>
                  <a:lnTo>
                    <a:pt x="3257169" y="0"/>
                  </a:lnTo>
                  <a:lnTo>
                    <a:pt x="3257169" y="6731"/>
                  </a:lnTo>
                  <a:lnTo>
                    <a:pt x="3257169" y="0"/>
                  </a:lnTo>
                  <a:cubicBezTo>
                    <a:pt x="3476752" y="0"/>
                    <a:pt x="3654933" y="177673"/>
                    <a:pt x="3654933" y="396875"/>
                  </a:cubicBezTo>
                  <a:lnTo>
                    <a:pt x="3648202" y="396875"/>
                  </a:lnTo>
                  <a:lnTo>
                    <a:pt x="3654933" y="396875"/>
                  </a:lnTo>
                  <a:lnTo>
                    <a:pt x="3654933" y="1957451"/>
                  </a:lnTo>
                  <a:lnTo>
                    <a:pt x="3648202" y="1957451"/>
                  </a:lnTo>
                  <a:lnTo>
                    <a:pt x="3654933" y="1957451"/>
                  </a:lnTo>
                  <a:cubicBezTo>
                    <a:pt x="3654933" y="2176653"/>
                    <a:pt x="3476879" y="2354326"/>
                    <a:pt x="3257169" y="2354326"/>
                  </a:cubicBezTo>
                  <a:lnTo>
                    <a:pt x="3257169" y="2347595"/>
                  </a:lnTo>
                  <a:lnTo>
                    <a:pt x="3257169" y="2354326"/>
                  </a:lnTo>
                  <a:lnTo>
                    <a:pt x="397764" y="2354326"/>
                  </a:lnTo>
                  <a:lnTo>
                    <a:pt x="397764" y="2347595"/>
                  </a:lnTo>
                  <a:lnTo>
                    <a:pt x="397764" y="2354326"/>
                  </a:lnTo>
                  <a:cubicBezTo>
                    <a:pt x="178054" y="2354453"/>
                    <a:pt x="0" y="2176653"/>
                    <a:pt x="0" y="1957451"/>
                  </a:cubicBezTo>
                  <a:lnTo>
                    <a:pt x="0" y="396875"/>
                  </a:lnTo>
                  <a:lnTo>
                    <a:pt x="6731" y="396875"/>
                  </a:lnTo>
                  <a:lnTo>
                    <a:pt x="0" y="396875"/>
                  </a:lnTo>
                  <a:moveTo>
                    <a:pt x="13589" y="396875"/>
                  </a:moveTo>
                  <a:lnTo>
                    <a:pt x="13589" y="1957451"/>
                  </a:lnTo>
                  <a:lnTo>
                    <a:pt x="6731" y="1957451"/>
                  </a:lnTo>
                  <a:lnTo>
                    <a:pt x="13462" y="1957451"/>
                  </a:lnTo>
                  <a:cubicBezTo>
                    <a:pt x="13462" y="2169160"/>
                    <a:pt x="185420" y="2340864"/>
                    <a:pt x="397637" y="2340864"/>
                  </a:cubicBezTo>
                  <a:lnTo>
                    <a:pt x="3257169" y="2340864"/>
                  </a:lnTo>
                  <a:cubicBezTo>
                    <a:pt x="3469386" y="2340864"/>
                    <a:pt x="3641344" y="2169160"/>
                    <a:pt x="3641344" y="1957451"/>
                  </a:cubicBezTo>
                  <a:lnTo>
                    <a:pt x="3641344" y="396875"/>
                  </a:lnTo>
                  <a:cubicBezTo>
                    <a:pt x="3641344" y="185166"/>
                    <a:pt x="3469386" y="13462"/>
                    <a:pt x="3257169" y="13462"/>
                  </a:cubicBezTo>
                  <a:lnTo>
                    <a:pt x="397764" y="13462"/>
                  </a:lnTo>
                  <a:lnTo>
                    <a:pt x="397764" y="6731"/>
                  </a:lnTo>
                  <a:lnTo>
                    <a:pt x="397764" y="13462"/>
                  </a:lnTo>
                  <a:cubicBezTo>
                    <a:pt x="185547" y="13589"/>
                    <a:pt x="13589" y="185166"/>
                    <a:pt x="13589" y="396875"/>
                  </a:cubicBezTo>
                  <a:close/>
                </a:path>
              </a:pathLst>
            </a:custGeom>
            <a:solidFill>
              <a:srgbClr val="4A7EBB"/>
            </a:solidFill>
          </p:spPr>
        </p:sp>
      </p:grpSp>
      <p:sp>
        <p:nvSpPr>
          <p:cNvPr name="TextBox 19" id="19"/>
          <p:cNvSpPr txBox="true"/>
          <p:nvPr/>
        </p:nvSpPr>
        <p:spPr>
          <a:xfrm rot="0">
            <a:off x="6763258" y="1768644"/>
            <a:ext cx="2548128" cy="481965"/>
          </a:xfrm>
          <a:prstGeom prst="rect">
            <a:avLst/>
          </a:prstGeom>
        </p:spPr>
        <p:txBody>
          <a:bodyPr anchor="t" rtlCol="false" tIns="0" lIns="0" bIns="0" rIns="0">
            <a:spAutoFit/>
          </a:bodyPr>
          <a:lstStyle/>
          <a:p>
            <a:pPr algn="ctr">
              <a:lnSpc>
                <a:spcPts val="4608"/>
              </a:lnSpc>
            </a:pPr>
            <a:r>
              <a:rPr lang="en-US" sz="3840">
                <a:solidFill>
                  <a:srgbClr val="000000"/>
                </a:solidFill>
                <a:latin typeface="Calibri (MS)"/>
                <a:ea typeface="Calibri (MS)"/>
                <a:cs typeface="Calibri (MS)"/>
                <a:sym typeface="Calibri (MS)"/>
              </a:rPr>
              <a:t>⚡</a:t>
            </a:r>
          </a:p>
        </p:txBody>
      </p:sp>
      <p:sp>
        <p:nvSpPr>
          <p:cNvPr name="TextBox 20" id="20"/>
          <p:cNvSpPr txBox="true"/>
          <p:nvPr/>
        </p:nvSpPr>
        <p:spPr>
          <a:xfrm rot="0">
            <a:off x="6665722" y="2288709"/>
            <a:ext cx="2548128" cy="677037"/>
          </a:xfrm>
          <a:prstGeom prst="rect">
            <a:avLst/>
          </a:prstGeom>
        </p:spPr>
        <p:txBody>
          <a:bodyPr anchor="t" rtlCol="false" tIns="0" lIns="0" bIns="0" rIns="0">
            <a:spAutoFit/>
          </a:bodyPr>
          <a:lstStyle/>
          <a:p>
            <a:pPr algn="ctr">
              <a:lnSpc>
                <a:spcPts val="4608"/>
              </a:lnSpc>
            </a:pPr>
            <a:r>
              <a:rPr lang="en-US" sz="3840" b="true">
                <a:solidFill>
                  <a:srgbClr val="FFFFFF"/>
                </a:solidFill>
                <a:latin typeface="Calibri (MS) Bold"/>
                <a:ea typeface="Calibri (MS) Bold"/>
                <a:cs typeface="Calibri (MS) Bold"/>
                <a:sym typeface="Calibri (MS) Bold"/>
              </a:rPr>
              <a:t>0.70s</a:t>
            </a:r>
          </a:p>
        </p:txBody>
      </p:sp>
      <p:sp>
        <p:nvSpPr>
          <p:cNvPr name="TextBox 21" id="21"/>
          <p:cNvSpPr txBox="true"/>
          <p:nvPr/>
        </p:nvSpPr>
        <p:spPr>
          <a:xfrm rot="0">
            <a:off x="6665722" y="3028611"/>
            <a:ext cx="2548128" cy="327279"/>
          </a:xfrm>
          <a:prstGeom prst="rect">
            <a:avLst/>
          </a:prstGeom>
        </p:spPr>
        <p:txBody>
          <a:bodyPr anchor="t" rtlCol="false" tIns="0" lIns="0" bIns="0" rIns="0">
            <a:spAutoFit/>
          </a:bodyPr>
          <a:lstStyle/>
          <a:p>
            <a:pPr algn="ctr">
              <a:lnSpc>
                <a:spcPts val="1791"/>
              </a:lnSpc>
            </a:pPr>
            <a:r>
              <a:rPr lang="en-US" sz="1493">
                <a:solidFill>
                  <a:srgbClr val="FFFFFF"/>
                </a:solidFill>
                <a:latin typeface="Calibri (MS)"/>
                <a:ea typeface="Calibri (MS)"/>
                <a:cs typeface="Calibri (MS)"/>
                <a:sym typeface="Calibri (MS)"/>
              </a:rPr>
              <a:t>Temps</a:t>
            </a:r>
          </a:p>
        </p:txBody>
      </p:sp>
      <p:grpSp>
        <p:nvGrpSpPr>
          <p:cNvPr name="Group 22" id="22"/>
          <p:cNvGrpSpPr/>
          <p:nvPr/>
        </p:nvGrpSpPr>
        <p:grpSpPr>
          <a:xfrm rot="0">
            <a:off x="766741" y="4180501"/>
            <a:ext cx="8220117" cy="758613"/>
            <a:chOff x="0" y="0"/>
            <a:chExt cx="10960156" cy="1011484"/>
          </a:xfrm>
        </p:grpSpPr>
        <p:sp>
          <p:nvSpPr>
            <p:cNvPr name="Freeform 23" id="23"/>
            <p:cNvSpPr/>
            <p:nvPr/>
          </p:nvSpPr>
          <p:spPr>
            <a:xfrm flipH="false" flipV="false" rot="0">
              <a:off x="18034" y="18034"/>
              <a:ext cx="10924032" cy="975360"/>
            </a:xfrm>
            <a:custGeom>
              <a:avLst/>
              <a:gdLst/>
              <a:ahLst/>
              <a:cxnLst/>
              <a:rect r="r" b="b" t="t" l="l"/>
              <a:pathLst>
                <a:path h="975360" w="10924032">
                  <a:moveTo>
                    <a:pt x="0" y="162560"/>
                  </a:moveTo>
                  <a:cubicBezTo>
                    <a:pt x="0" y="72771"/>
                    <a:pt x="75184" y="0"/>
                    <a:pt x="168021" y="0"/>
                  </a:cubicBezTo>
                  <a:lnTo>
                    <a:pt x="10756011" y="0"/>
                  </a:lnTo>
                  <a:cubicBezTo>
                    <a:pt x="10848848" y="0"/>
                    <a:pt x="10924032" y="72771"/>
                    <a:pt x="10924032" y="162560"/>
                  </a:cubicBezTo>
                  <a:lnTo>
                    <a:pt x="10924032" y="812800"/>
                  </a:lnTo>
                  <a:cubicBezTo>
                    <a:pt x="10924032" y="902589"/>
                    <a:pt x="10848848" y="975360"/>
                    <a:pt x="10756011" y="975360"/>
                  </a:cubicBezTo>
                  <a:lnTo>
                    <a:pt x="168021" y="975360"/>
                  </a:lnTo>
                  <a:cubicBezTo>
                    <a:pt x="75184" y="975360"/>
                    <a:pt x="0" y="902589"/>
                    <a:pt x="0" y="812800"/>
                  </a:cubicBezTo>
                  <a:close/>
                </a:path>
              </a:pathLst>
            </a:custGeom>
            <a:solidFill>
              <a:srgbClr val="F2F2F2"/>
            </a:solidFill>
          </p:spPr>
        </p:sp>
        <p:sp>
          <p:nvSpPr>
            <p:cNvPr name="Freeform 24" id="24"/>
            <p:cNvSpPr/>
            <p:nvPr/>
          </p:nvSpPr>
          <p:spPr>
            <a:xfrm flipH="false" flipV="false" rot="0">
              <a:off x="0" y="0"/>
              <a:ext cx="10960100" cy="1011428"/>
            </a:xfrm>
            <a:custGeom>
              <a:avLst/>
              <a:gdLst/>
              <a:ahLst/>
              <a:cxnLst/>
              <a:rect r="r" b="b" t="t" l="l"/>
              <a:pathLst>
                <a:path h="1011428" w="10960100">
                  <a:moveTo>
                    <a:pt x="0" y="180594"/>
                  </a:moveTo>
                  <a:cubicBezTo>
                    <a:pt x="0" y="80264"/>
                    <a:pt x="83820" y="0"/>
                    <a:pt x="186055" y="0"/>
                  </a:cubicBezTo>
                  <a:lnTo>
                    <a:pt x="10774045" y="0"/>
                  </a:lnTo>
                  <a:lnTo>
                    <a:pt x="10774045" y="18034"/>
                  </a:lnTo>
                  <a:lnTo>
                    <a:pt x="10774045" y="0"/>
                  </a:lnTo>
                  <a:cubicBezTo>
                    <a:pt x="10876280" y="0"/>
                    <a:pt x="10960100" y="80264"/>
                    <a:pt x="10960100" y="180594"/>
                  </a:cubicBezTo>
                  <a:lnTo>
                    <a:pt x="10942066" y="180594"/>
                  </a:lnTo>
                  <a:lnTo>
                    <a:pt x="10960100" y="180594"/>
                  </a:lnTo>
                  <a:lnTo>
                    <a:pt x="10960100" y="830834"/>
                  </a:lnTo>
                  <a:lnTo>
                    <a:pt x="10942066" y="830834"/>
                  </a:lnTo>
                  <a:lnTo>
                    <a:pt x="10960100" y="830834"/>
                  </a:lnTo>
                  <a:cubicBezTo>
                    <a:pt x="10960100" y="931164"/>
                    <a:pt x="10876280" y="1011428"/>
                    <a:pt x="10774045" y="1011428"/>
                  </a:cubicBezTo>
                  <a:lnTo>
                    <a:pt x="10774045" y="993394"/>
                  </a:lnTo>
                  <a:lnTo>
                    <a:pt x="10774045" y="1011428"/>
                  </a:lnTo>
                  <a:lnTo>
                    <a:pt x="186055" y="1011428"/>
                  </a:lnTo>
                  <a:lnTo>
                    <a:pt x="186055" y="993394"/>
                  </a:lnTo>
                  <a:lnTo>
                    <a:pt x="186055" y="1011428"/>
                  </a:lnTo>
                  <a:cubicBezTo>
                    <a:pt x="83820" y="1011428"/>
                    <a:pt x="0" y="931164"/>
                    <a:pt x="0" y="830834"/>
                  </a:cubicBezTo>
                  <a:lnTo>
                    <a:pt x="0" y="180594"/>
                  </a:lnTo>
                  <a:lnTo>
                    <a:pt x="18034" y="180594"/>
                  </a:lnTo>
                  <a:lnTo>
                    <a:pt x="0" y="180594"/>
                  </a:lnTo>
                  <a:moveTo>
                    <a:pt x="36068" y="180594"/>
                  </a:moveTo>
                  <a:lnTo>
                    <a:pt x="36068" y="830834"/>
                  </a:lnTo>
                  <a:lnTo>
                    <a:pt x="18034" y="830834"/>
                  </a:lnTo>
                  <a:lnTo>
                    <a:pt x="36068" y="830834"/>
                  </a:lnTo>
                  <a:cubicBezTo>
                    <a:pt x="36068" y="910082"/>
                    <a:pt x="102616" y="975360"/>
                    <a:pt x="186055" y="975360"/>
                  </a:cubicBezTo>
                  <a:lnTo>
                    <a:pt x="10774045" y="975360"/>
                  </a:lnTo>
                  <a:cubicBezTo>
                    <a:pt x="10857484" y="975360"/>
                    <a:pt x="10924032" y="910082"/>
                    <a:pt x="10924032" y="830834"/>
                  </a:cubicBezTo>
                  <a:lnTo>
                    <a:pt x="10924032" y="180594"/>
                  </a:lnTo>
                  <a:cubicBezTo>
                    <a:pt x="10924032" y="101346"/>
                    <a:pt x="10857485" y="36068"/>
                    <a:pt x="10774045" y="36068"/>
                  </a:cubicBezTo>
                  <a:lnTo>
                    <a:pt x="186055" y="36068"/>
                  </a:lnTo>
                  <a:lnTo>
                    <a:pt x="186055" y="18034"/>
                  </a:lnTo>
                  <a:lnTo>
                    <a:pt x="186055" y="36068"/>
                  </a:lnTo>
                  <a:cubicBezTo>
                    <a:pt x="102743" y="36068"/>
                    <a:pt x="36068" y="101346"/>
                    <a:pt x="36068" y="180594"/>
                  </a:cubicBezTo>
                  <a:close/>
                </a:path>
              </a:pathLst>
            </a:custGeom>
            <a:solidFill>
              <a:srgbClr val="00B0F0"/>
            </a:solidFill>
          </p:spPr>
        </p:sp>
      </p:grpSp>
      <p:sp>
        <p:nvSpPr>
          <p:cNvPr name="TextBox 25" id="25"/>
          <p:cNvSpPr txBox="true"/>
          <p:nvPr/>
        </p:nvSpPr>
        <p:spPr>
          <a:xfrm rot="0">
            <a:off x="1066800" y="4250436"/>
            <a:ext cx="7620000" cy="288036"/>
          </a:xfrm>
          <a:prstGeom prst="rect">
            <a:avLst/>
          </a:prstGeom>
        </p:spPr>
        <p:txBody>
          <a:bodyPr anchor="t" rtlCol="false" tIns="0" lIns="0" bIns="0" rIns="0">
            <a:spAutoFit/>
          </a:bodyPr>
          <a:lstStyle/>
          <a:p>
            <a:pPr algn="l">
              <a:lnSpc>
                <a:spcPts val="2047"/>
              </a:lnSpc>
            </a:pPr>
            <a:r>
              <a:rPr lang="en-US" sz="1706" b="true">
                <a:solidFill>
                  <a:srgbClr val="333333"/>
                </a:solidFill>
                <a:latin typeface="Calibri (MS) Bold"/>
                <a:ea typeface="Calibri (MS) Bold"/>
                <a:cs typeface="Calibri (MS) Bold"/>
                <a:sym typeface="Calibri (MS) Bold"/>
              </a:rPr>
              <a:t>✅ Performance Globale</a:t>
            </a:r>
          </a:p>
        </p:txBody>
      </p:sp>
      <p:sp>
        <p:nvSpPr>
          <p:cNvPr name="TextBox 26" id="26"/>
          <p:cNvSpPr txBox="true"/>
          <p:nvPr/>
        </p:nvSpPr>
        <p:spPr>
          <a:xfrm rot="0">
            <a:off x="1066800" y="4601337"/>
            <a:ext cx="7620000" cy="229743"/>
          </a:xfrm>
          <a:prstGeom prst="rect">
            <a:avLst/>
          </a:prstGeom>
        </p:spPr>
        <p:txBody>
          <a:bodyPr anchor="t" rtlCol="false" tIns="0" lIns="0" bIns="0" rIns="0">
            <a:spAutoFit/>
          </a:bodyPr>
          <a:lstStyle/>
          <a:p>
            <a:pPr algn="l">
              <a:lnSpc>
                <a:spcPts val="1791"/>
              </a:lnSpc>
            </a:pPr>
            <a:r>
              <a:rPr lang="en-US" sz="1493">
                <a:solidFill>
                  <a:srgbClr val="404040"/>
                </a:solidFill>
                <a:latin typeface="Calibri (MS)"/>
                <a:ea typeface="Calibri (MS)"/>
                <a:cs typeface="Calibri (MS)"/>
                <a:sym typeface="Calibri (MS)"/>
              </a:rPr>
              <a:t>Précision &gt;83% sur données non vues, validation robuste</a:t>
            </a:r>
          </a:p>
        </p:txBody>
      </p:sp>
      <p:grpSp>
        <p:nvGrpSpPr>
          <p:cNvPr name="Group 27" id="27"/>
          <p:cNvGrpSpPr/>
          <p:nvPr/>
        </p:nvGrpSpPr>
        <p:grpSpPr>
          <a:xfrm rot="0">
            <a:off x="766741" y="5058325"/>
            <a:ext cx="8220117" cy="758613"/>
            <a:chOff x="0" y="0"/>
            <a:chExt cx="10960156" cy="1011484"/>
          </a:xfrm>
        </p:grpSpPr>
        <p:sp>
          <p:nvSpPr>
            <p:cNvPr name="Freeform 28" id="28"/>
            <p:cNvSpPr/>
            <p:nvPr/>
          </p:nvSpPr>
          <p:spPr>
            <a:xfrm flipH="false" flipV="false" rot="0">
              <a:off x="18034" y="18034"/>
              <a:ext cx="10924032" cy="975360"/>
            </a:xfrm>
            <a:custGeom>
              <a:avLst/>
              <a:gdLst/>
              <a:ahLst/>
              <a:cxnLst/>
              <a:rect r="r" b="b" t="t" l="l"/>
              <a:pathLst>
                <a:path h="975360" w="10924032">
                  <a:moveTo>
                    <a:pt x="0" y="162560"/>
                  </a:moveTo>
                  <a:cubicBezTo>
                    <a:pt x="0" y="72771"/>
                    <a:pt x="75184" y="0"/>
                    <a:pt x="168021" y="0"/>
                  </a:cubicBezTo>
                  <a:lnTo>
                    <a:pt x="10756011" y="0"/>
                  </a:lnTo>
                  <a:cubicBezTo>
                    <a:pt x="10848848" y="0"/>
                    <a:pt x="10924032" y="72771"/>
                    <a:pt x="10924032" y="162560"/>
                  </a:cubicBezTo>
                  <a:lnTo>
                    <a:pt x="10924032" y="812800"/>
                  </a:lnTo>
                  <a:cubicBezTo>
                    <a:pt x="10924032" y="902589"/>
                    <a:pt x="10848848" y="975360"/>
                    <a:pt x="10756011" y="975360"/>
                  </a:cubicBezTo>
                  <a:lnTo>
                    <a:pt x="168021" y="975360"/>
                  </a:lnTo>
                  <a:cubicBezTo>
                    <a:pt x="75184" y="975360"/>
                    <a:pt x="0" y="902589"/>
                    <a:pt x="0" y="812800"/>
                  </a:cubicBezTo>
                  <a:close/>
                </a:path>
              </a:pathLst>
            </a:custGeom>
            <a:solidFill>
              <a:srgbClr val="F2F2F2"/>
            </a:solidFill>
          </p:spPr>
        </p:sp>
        <p:sp>
          <p:nvSpPr>
            <p:cNvPr name="Freeform 29" id="29"/>
            <p:cNvSpPr/>
            <p:nvPr/>
          </p:nvSpPr>
          <p:spPr>
            <a:xfrm flipH="false" flipV="false" rot="0">
              <a:off x="0" y="0"/>
              <a:ext cx="10960100" cy="1011428"/>
            </a:xfrm>
            <a:custGeom>
              <a:avLst/>
              <a:gdLst/>
              <a:ahLst/>
              <a:cxnLst/>
              <a:rect r="r" b="b" t="t" l="l"/>
              <a:pathLst>
                <a:path h="1011428" w="10960100">
                  <a:moveTo>
                    <a:pt x="0" y="180594"/>
                  </a:moveTo>
                  <a:cubicBezTo>
                    <a:pt x="0" y="80264"/>
                    <a:pt x="83820" y="0"/>
                    <a:pt x="186055" y="0"/>
                  </a:cubicBezTo>
                  <a:lnTo>
                    <a:pt x="10774045" y="0"/>
                  </a:lnTo>
                  <a:lnTo>
                    <a:pt x="10774045" y="18034"/>
                  </a:lnTo>
                  <a:lnTo>
                    <a:pt x="10774045" y="0"/>
                  </a:lnTo>
                  <a:cubicBezTo>
                    <a:pt x="10876280" y="0"/>
                    <a:pt x="10960100" y="80264"/>
                    <a:pt x="10960100" y="180594"/>
                  </a:cubicBezTo>
                  <a:lnTo>
                    <a:pt x="10942066" y="180594"/>
                  </a:lnTo>
                  <a:lnTo>
                    <a:pt x="10960100" y="180594"/>
                  </a:lnTo>
                  <a:lnTo>
                    <a:pt x="10960100" y="830834"/>
                  </a:lnTo>
                  <a:lnTo>
                    <a:pt x="10942066" y="830834"/>
                  </a:lnTo>
                  <a:lnTo>
                    <a:pt x="10960100" y="830834"/>
                  </a:lnTo>
                  <a:cubicBezTo>
                    <a:pt x="10960100" y="931164"/>
                    <a:pt x="10876280" y="1011428"/>
                    <a:pt x="10774045" y="1011428"/>
                  </a:cubicBezTo>
                  <a:lnTo>
                    <a:pt x="10774045" y="993394"/>
                  </a:lnTo>
                  <a:lnTo>
                    <a:pt x="10774045" y="1011428"/>
                  </a:lnTo>
                  <a:lnTo>
                    <a:pt x="186055" y="1011428"/>
                  </a:lnTo>
                  <a:lnTo>
                    <a:pt x="186055" y="993394"/>
                  </a:lnTo>
                  <a:lnTo>
                    <a:pt x="186055" y="1011428"/>
                  </a:lnTo>
                  <a:cubicBezTo>
                    <a:pt x="83820" y="1011428"/>
                    <a:pt x="0" y="931164"/>
                    <a:pt x="0" y="830834"/>
                  </a:cubicBezTo>
                  <a:lnTo>
                    <a:pt x="0" y="180594"/>
                  </a:lnTo>
                  <a:lnTo>
                    <a:pt x="18034" y="180594"/>
                  </a:lnTo>
                  <a:lnTo>
                    <a:pt x="0" y="180594"/>
                  </a:lnTo>
                  <a:moveTo>
                    <a:pt x="36068" y="180594"/>
                  </a:moveTo>
                  <a:lnTo>
                    <a:pt x="36068" y="830834"/>
                  </a:lnTo>
                  <a:lnTo>
                    <a:pt x="18034" y="830834"/>
                  </a:lnTo>
                  <a:lnTo>
                    <a:pt x="36068" y="830834"/>
                  </a:lnTo>
                  <a:cubicBezTo>
                    <a:pt x="36068" y="910082"/>
                    <a:pt x="102616" y="975360"/>
                    <a:pt x="186055" y="975360"/>
                  </a:cubicBezTo>
                  <a:lnTo>
                    <a:pt x="10774045" y="975360"/>
                  </a:lnTo>
                  <a:cubicBezTo>
                    <a:pt x="10857484" y="975360"/>
                    <a:pt x="10924032" y="910082"/>
                    <a:pt x="10924032" y="830834"/>
                  </a:cubicBezTo>
                  <a:lnTo>
                    <a:pt x="10924032" y="180594"/>
                  </a:lnTo>
                  <a:cubicBezTo>
                    <a:pt x="10924032" y="101346"/>
                    <a:pt x="10857485" y="36068"/>
                    <a:pt x="10774045" y="36068"/>
                  </a:cubicBezTo>
                  <a:lnTo>
                    <a:pt x="186055" y="36068"/>
                  </a:lnTo>
                  <a:lnTo>
                    <a:pt x="186055" y="18034"/>
                  </a:lnTo>
                  <a:lnTo>
                    <a:pt x="186055" y="36068"/>
                  </a:lnTo>
                  <a:cubicBezTo>
                    <a:pt x="102743" y="36068"/>
                    <a:pt x="36068" y="101346"/>
                    <a:pt x="36068" y="180594"/>
                  </a:cubicBezTo>
                  <a:close/>
                </a:path>
              </a:pathLst>
            </a:custGeom>
            <a:solidFill>
              <a:srgbClr val="00B0F0"/>
            </a:solidFill>
          </p:spPr>
        </p:sp>
      </p:grpSp>
      <p:sp>
        <p:nvSpPr>
          <p:cNvPr name="TextBox 30" id="30"/>
          <p:cNvSpPr txBox="true"/>
          <p:nvPr/>
        </p:nvSpPr>
        <p:spPr>
          <a:xfrm rot="0">
            <a:off x="1066800" y="5128260"/>
            <a:ext cx="7620000" cy="288036"/>
          </a:xfrm>
          <a:prstGeom prst="rect">
            <a:avLst/>
          </a:prstGeom>
        </p:spPr>
        <p:txBody>
          <a:bodyPr anchor="t" rtlCol="false" tIns="0" lIns="0" bIns="0" rIns="0">
            <a:spAutoFit/>
          </a:bodyPr>
          <a:lstStyle/>
          <a:p>
            <a:pPr algn="l">
              <a:lnSpc>
                <a:spcPts val="2047"/>
              </a:lnSpc>
            </a:pPr>
            <a:r>
              <a:rPr lang="en-US" sz="1706" b="true">
                <a:solidFill>
                  <a:srgbClr val="333333"/>
                </a:solidFill>
                <a:latin typeface="Calibri (MS) Bold"/>
                <a:ea typeface="Calibri (MS) Bold"/>
                <a:cs typeface="Calibri (MS) Bold"/>
                <a:sym typeface="Calibri (MS) Bold"/>
              </a:rPr>
              <a:t>⚠️ Points d'Attention</a:t>
            </a:r>
          </a:p>
        </p:txBody>
      </p:sp>
      <p:sp>
        <p:nvSpPr>
          <p:cNvPr name="TextBox 31" id="31"/>
          <p:cNvSpPr txBox="true"/>
          <p:nvPr/>
        </p:nvSpPr>
        <p:spPr>
          <a:xfrm rot="0">
            <a:off x="1066800" y="5479161"/>
            <a:ext cx="7620000" cy="229743"/>
          </a:xfrm>
          <a:prstGeom prst="rect">
            <a:avLst/>
          </a:prstGeom>
        </p:spPr>
        <p:txBody>
          <a:bodyPr anchor="t" rtlCol="false" tIns="0" lIns="0" bIns="0" rIns="0">
            <a:spAutoFit/>
          </a:bodyPr>
          <a:lstStyle/>
          <a:p>
            <a:pPr algn="l">
              <a:lnSpc>
                <a:spcPts val="1791"/>
              </a:lnSpc>
            </a:pPr>
            <a:r>
              <a:rPr lang="en-US" sz="1493">
                <a:solidFill>
                  <a:srgbClr val="404040"/>
                </a:solidFill>
                <a:latin typeface="Calibri (MS)"/>
                <a:ea typeface="Calibri (MS)"/>
                <a:cs typeface="Calibri (MS)"/>
                <a:sym typeface="Calibri (MS)"/>
              </a:rPr>
              <a:t>23% de fausses alarmes (FP) nécessitent investigation</a:t>
            </a:r>
          </a:p>
        </p:txBody>
      </p:sp>
      <p:grpSp>
        <p:nvGrpSpPr>
          <p:cNvPr name="Group 32" id="32"/>
          <p:cNvGrpSpPr/>
          <p:nvPr/>
        </p:nvGrpSpPr>
        <p:grpSpPr>
          <a:xfrm rot="0">
            <a:off x="766741" y="5936149"/>
            <a:ext cx="8220117" cy="758613"/>
            <a:chOff x="0" y="0"/>
            <a:chExt cx="10960156" cy="1011484"/>
          </a:xfrm>
        </p:grpSpPr>
        <p:sp>
          <p:nvSpPr>
            <p:cNvPr name="Freeform 33" id="33"/>
            <p:cNvSpPr/>
            <p:nvPr/>
          </p:nvSpPr>
          <p:spPr>
            <a:xfrm flipH="false" flipV="false" rot="0">
              <a:off x="18034" y="18034"/>
              <a:ext cx="10924032" cy="975360"/>
            </a:xfrm>
            <a:custGeom>
              <a:avLst/>
              <a:gdLst/>
              <a:ahLst/>
              <a:cxnLst/>
              <a:rect r="r" b="b" t="t" l="l"/>
              <a:pathLst>
                <a:path h="975360" w="10924032">
                  <a:moveTo>
                    <a:pt x="0" y="162560"/>
                  </a:moveTo>
                  <a:cubicBezTo>
                    <a:pt x="0" y="72771"/>
                    <a:pt x="75184" y="0"/>
                    <a:pt x="168021" y="0"/>
                  </a:cubicBezTo>
                  <a:lnTo>
                    <a:pt x="10756011" y="0"/>
                  </a:lnTo>
                  <a:cubicBezTo>
                    <a:pt x="10848848" y="0"/>
                    <a:pt x="10924032" y="72771"/>
                    <a:pt x="10924032" y="162560"/>
                  </a:cubicBezTo>
                  <a:lnTo>
                    <a:pt x="10924032" y="812800"/>
                  </a:lnTo>
                  <a:cubicBezTo>
                    <a:pt x="10924032" y="902589"/>
                    <a:pt x="10848848" y="975360"/>
                    <a:pt x="10756011" y="975360"/>
                  </a:cubicBezTo>
                  <a:lnTo>
                    <a:pt x="168021" y="975360"/>
                  </a:lnTo>
                  <a:cubicBezTo>
                    <a:pt x="75184" y="975360"/>
                    <a:pt x="0" y="902589"/>
                    <a:pt x="0" y="812800"/>
                  </a:cubicBezTo>
                  <a:close/>
                </a:path>
              </a:pathLst>
            </a:custGeom>
            <a:solidFill>
              <a:srgbClr val="F2F2F2"/>
            </a:solidFill>
          </p:spPr>
        </p:sp>
        <p:sp>
          <p:nvSpPr>
            <p:cNvPr name="Freeform 34" id="34"/>
            <p:cNvSpPr/>
            <p:nvPr/>
          </p:nvSpPr>
          <p:spPr>
            <a:xfrm flipH="false" flipV="false" rot="0">
              <a:off x="0" y="0"/>
              <a:ext cx="10960100" cy="1011428"/>
            </a:xfrm>
            <a:custGeom>
              <a:avLst/>
              <a:gdLst/>
              <a:ahLst/>
              <a:cxnLst/>
              <a:rect r="r" b="b" t="t" l="l"/>
              <a:pathLst>
                <a:path h="1011428" w="10960100">
                  <a:moveTo>
                    <a:pt x="0" y="180594"/>
                  </a:moveTo>
                  <a:cubicBezTo>
                    <a:pt x="0" y="80264"/>
                    <a:pt x="83820" y="0"/>
                    <a:pt x="186055" y="0"/>
                  </a:cubicBezTo>
                  <a:lnTo>
                    <a:pt x="10774045" y="0"/>
                  </a:lnTo>
                  <a:lnTo>
                    <a:pt x="10774045" y="18034"/>
                  </a:lnTo>
                  <a:lnTo>
                    <a:pt x="10774045" y="0"/>
                  </a:lnTo>
                  <a:cubicBezTo>
                    <a:pt x="10876280" y="0"/>
                    <a:pt x="10960100" y="80264"/>
                    <a:pt x="10960100" y="180594"/>
                  </a:cubicBezTo>
                  <a:lnTo>
                    <a:pt x="10942066" y="180594"/>
                  </a:lnTo>
                  <a:lnTo>
                    <a:pt x="10960100" y="180594"/>
                  </a:lnTo>
                  <a:lnTo>
                    <a:pt x="10960100" y="830834"/>
                  </a:lnTo>
                  <a:lnTo>
                    <a:pt x="10942066" y="830834"/>
                  </a:lnTo>
                  <a:lnTo>
                    <a:pt x="10960100" y="830834"/>
                  </a:lnTo>
                  <a:cubicBezTo>
                    <a:pt x="10960100" y="931164"/>
                    <a:pt x="10876280" y="1011428"/>
                    <a:pt x="10774045" y="1011428"/>
                  </a:cubicBezTo>
                  <a:lnTo>
                    <a:pt x="10774045" y="993394"/>
                  </a:lnTo>
                  <a:lnTo>
                    <a:pt x="10774045" y="1011428"/>
                  </a:lnTo>
                  <a:lnTo>
                    <a:pt x="186055" y="1011428"/>
                  </a:lnTo>
                  <a:lnTo>
                    <a:pt x="186055" y="993394"/>
                  </a:lnTo>
                  <a:lnTo>
                    <a:pt x="186055" y="1011428"/>
                  </a:lnTo>
                  <a:cubicBezTo>
                    <a:pt x="83820" y="1011428"/>
                    <a:pt x="0" y="931164"/>
                    <a:pt x="0" y="830834"/>
                  </a:cubicBezTo>
                  <a:lnTo>
                    <a:pt x="0" y="180594"/>
                  </a:lnTo>
                  <a:lnTo>
                    <a:pt x="18034" y="180594"/>
                  </a:lnTo>
                  <a:lnTo>
                    <a:pt x="0" y="180594"/>
                  </a:lnTo>
                  <a:moveTo>
                    <a:pt x="36068" y="180594"/>
                  </a:moveTo>
                  <a:lnTo>
                    <a:pt x="36068" y="830834"/>
                  </a:lnTo>
                  <a:lnTo>
                    <a:pt x="18034" y="830834"/>
                  </a:lnTo>
                  <a:lnTo>
                    <a:pt x="36068" y="830834"/>
                  </a:lnTo>
                  <a:cubicBezTo>
                    <a:pt x="36068" y="910082"/>
                    <a:pt x="102616" y="975360"/>
                    <a:pt x="186055" y="975360"/>
                  </a:cubicBezTo>
                  <a:lnTo>
                    <a:pt x="10774045" y="975360"/>
                  </a:lnTo>
                  <a:cubicBezTo>
                    <a:pt x="10857484" y="975360"/>
                    <a:pt x="10924032" y="910082"/>
                    <a:pt x="10924032" y="830834"/>
                  </a:cubicBezTo>
                  <a:lnTo>
                    <a:pt x="10924032" y="180594"/>
                  </a:lnTo>
                  <a:cubicBezTo>
                    <a:pt x="10924032" y="101346"/>
                    <a:pt x="10857485" y="36068"/>
                    <a:pt x="10774045" y="36068"/>
                  </a:cubicBezTo>
                  <a:lnTo>
                    <a:pt x="186055" y="36068"/>
                  </a:lnTo>
                  <a:lnTo>
                    <a:pt x="186055" y="18034"/>
                  </a:lnTo>
                  <a:lnTo>
                    <a:pt x="186055" y="36068"/>
                  </a:lnTo>
                  <a:cubicBezTo>
                    <a:pt x="102743" y="36068"/>
                    <a:pt x="36068" y="101346"/>
                    <a:pt x="36068" y="180594"/>
                  </a:cubicBezTo>
                  <a:close/>
                </a:path>
              </a:pathLst>
            </a:custGeom>
            <a:solidFill>
              <a:srgbClr val="00B0F0"/>
            </a:solidFill>
          </p:spPr>
        </p:sp>
      </p:grpSp>
      <p:sp>
        <p:nvSpPr>
          <p:cNvPr name="TextBox 35" id="35"/>
          <p:cNvSpPr txBox="true"/>
          <p:nvPr/>
        </p:nvSpPr>
        <p:spPr>
          <a:xfrm rot="0">
            <a:off x="1066800" y="6006084"/>
            <a:ext cx="7620000" cy="288036"/>
          </a:xfrm>
          <a:prstGeom prst="rect">
            <a:avLst/>
          </a:prstGeom>
        </p:spPr>
        <p:txBody>
          <a:bodyPr anchor="t" rtlCol="false" tIns="0" lIns="0" bIns="0" rIns="0">
            <a:spAutoFit/>
          </a:bodyPr>
          <a:lstStyle/>
          <a:p>
            <a:pPr algn="l">
              <a:lnSpc>
                <a:spcPts val="2047"/>
              </a:lnSpc>
            </a:pPr>
            <a:r>
              <a:rPr lang="en-US" sz="1706" b="true">
                <a:solidFill>
                  <a:srgbClr val="333333"/>
                </a:solidFill>
                <a:latin typeface="Calibri (MS) Bold"/>
                <a:ea typeface="Calibri (MS) Bold"/>
                <a:cs typeface="Calibri (MS) Bold"/>
                <a:sym typeface="Calibri (MS) Bold"/>
              </a:rPr>
              <a:t>🚀 Efficacité</a:t>
            </a:r>
          </a:p>
        </p:txBody>
      </p:sp>
      <p:sp>
        <p:nvSpPr>
          <p:cNvPr name="TextBox 36" id="36"/>
          <p:cNvSpPr txBox="true"/>
          <p:nvPr/>
        </p:nvSpPr>
        <p:spPr>
          <a:xfrm rot="0">
            <a:off x="1066800" y="6356985"/>
            <a:ext cx="7620000" cy="229743"/>
          </a:xfrm>
          <a:prstGeom prst="rect">
            <a:avLst/>
          </a:prstGeom>
        </p:spPr>
        <p:txBody>
          <a:bodyPr anchor="t" rtlCol="false" tIns="0" lIns="0" bIns="0" rIns="0">
            <a:spAutoFit/>
          </a:bodyPr>
          <a:lstStyle/>
          <a:p>
            <a:pPr algn="l">
              <a:lnSpc>
                <a:spcPts val="1791"/>
              </a:lnSpc>
            </a:pPr>
            <a:r>
              <a:rPr lang="en-US" sz="1493">
                <a:solidFill>
                  <a:srgbClr val="404040"/>
                </a:solidFill>
                <a:latin typeface="Calibri (MS)"/>
                <a:ea typeface="Calibri (MS)"/>
                <a:cs typeface="Calibri (MS)"/>
                <a:sym typeface="Calibri (MS)"/>
              </a:rPr>
              <a:t>Temps de prédiction compatible avec monitoring temps réel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Matrice de Confusion</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a:grpSpLocks noChangeAspect="true"/>
          </p:cNvGrpSpPr>
          <p:nvPr/>
        </p:nvGrpSpPr>
        <p:grpSpPr>
          <a:xfrm rot="0">
            <a:off x="579120" y="1463040"/>
            <a:ext cx="6248400" cy="5444150"/>
            <a:chOff x="0" y="0"/>
            <a:chExt cx="7152640" cy="6232003"/>
          </a:xfrm>
        </p:grpSpPr>
        <p:sp>
          <p:nvSpPr>
            <p:cNvPr name="Freeform 5" id="5" descr="image.png"/>
            <p:cNvSpPr/>
            <p:nvPr/>
          </p:nvSpPr>
          <p:spPr>
            <a:xfrm flipH="false" flipV="false" rot="0">
              <a:off x="0" y="0"/>
              <a:ext cx="7152640" cy="6232017"/>
            </a:xfrm>
            <a:custGeom>
              <a:avLst/>
              <a:gdLst/>
              <a:ahLst/>
              <a:cxnLst/>
              <a:rect r="r" b="b" t="t" l="l"/>
              <a:pathLst>
                <a:path h="6232017" w="7152640">
                  <a:moveTo>
                    <a:pt x="0" y="0"/>
                  </a:moveTo>
                  <a:lnTo>
                    <a:pt x="7152640" y="0"/>
                  </a:lnTo>
                  <a:lnTo>
                    <a:pt x="7152640" y="6232017"/>
                  </a:lnTo>
                  <a:lnTo>
                    <a:pt x="0" y="6232017"/>
                  </a:lnTo>
                  <a:lnTo>
                    <a:pt x="0" y="0"/>
                  </a:lnTo>
                  <a:close/>
                </a:path>
              </a:pathLst>
            </a:custGeom>
            <a:blipFill>
              <a:blip r:embed="rId2"/>
              <a:stretch>
                <a:fillRect l="0" t="0" r="0" b="0"/>
              </a:stretch>
            </a:blipFill>
          </p:spPr>
        </p:sp>
      </p:grpSp>
      <p:grpSp>
        <p:nvGrpSpPr>
          <p:cNvPr name="Group 6" id="6"/>
          <p:cNvGrpSpPr/>
          <p:nvPr/>
        </p:nvGrpSpPr>
        <p:grpSpPr>
          <a:xfrm rot="0">
            <a:off x="7002272" y="1930400"/>
            <a:ext cx="2479040" cy="3454400"/>
            <a:chOff x="0" y="0"/>
            <a:chExt cx="3305387" cy="4605867"/>
          </a:xfrm>
        </p:grpSpPr>
        <p:sp>
          <p:nvSpPr>
            <p:cNvPr name="Freeform 7" id="7"/>
            <p:cNvSpPr/>
            <p:nvPr/>
          </p:nvSpPr>
          <p:spPr>
            <a:xfrm flipH="false" flipV="false" rot="0">
              <a:off x="27051" y="27051"/>
              <a:ext cx="3251327" cy="4551807"/>
            </a:xfrm>
            <a:custGeom>
              <a:avLst/>
              <a:gdLst/>
              <a:ahLst/>
              <a:cxnLst/>
              <a:rect r="r" b="b" t="t" l="l"/>
              <a:pathLst>
                <a:path h="4551807" w="3251327">
                  <a:moveTo>
                    <a:pt x="0" y="544449"/>
                  </a:moveTo>
                  <a:cubicBezTo>
                    <a:pt x="0" y="243713"/>
                    <a:pt x="242570" y="0"/>
                    <a:pt x="541909" y="0"/>
                  </a:cubicBezTo>
                  <a:lnTo>
                    <a:pt x="2709418" y="0"/>
                  </a:lnTo>
                  <a:cubicBezTo>
                    <a:pt x="3008630" y="0"/>
                    <a:pt x="3251327" y="243713"/>
                    <a:pt x="3251327" y="544449"/>
                  </a:cubicBezTo>
                  <a:lnTo>
                    <a:pt x="3251327" y="4007358"/>
                  </a:lnTo>
                  <a:cubicBezTo>
                    <a:pt x="3251327" y="4308094"/>
                    <a:pt x="3008757" y="4551807"/>
                    <a:pt x="2709418" y="4551807"/>
                  </a:cubicBezTo>
                  <a:lnTo>
                    <a:pt x="541909" y="4551807"/>
                  </a:lnTo>
                  <a:cubicBezTo>
                    <a:pt x="242697" y="4551807"/>
                    <a:pt x="0" y="4308094"/>
                    <a:pt x="0" y="4007358"/>
                  </a:cubicBezTo>
                  <a:close/>
                </a:path>
              </a:pathLst>
            </a:custGeom>
            <a:solidFill>
              <a:srgbClr val="F2F2F2"/>
            </a:solidFill>
          </p:spPr>
        </p:sp>
        <p:sp>
          <p:nvSpPr>
            <p:cNvPr name="Freeform 8" id="8"/>
            <p:cNvSpPr/>
            <p:nvPr/>
          </p:nvSpPr>
          <p:spPr>
            <a:xfrm flipH="false" flipV="false" rot="0">
              <a:off x="0" y="0"/>
              <a:ext cx="3305429" cy="4605909"/>
            </a:xfrm>
            <a:custGeom>
              <a:avLst/>
              <a:gdLst/>
              <a:ahLst/>
              <a:cxnLst/>
              <a:rect r="r" b="b" t="t" l="l"/>
              <a:pathLst>
                <a:path h="4605909" w="3305429">
                  <a:moveTo>
                    <a:pt x="0" y="571500"/>
                  </a:moveTo>
                  <a:cubicBezTo>
                    <a:pt x="0" y="256032"/>
                    <a:pt x="254635" y="0"/>
                    <a:pt x="568960" y="0"/>
                  </a:cubicBezTo>
                  <a:lnTo>
                    <a:pt x="2736469" y="0"/>
                  </a:lnTo>
                  <a:lnTo>
                    <a:pt x="2736469" y="27051"/>
                  </a:lnTo>
                  <a:lnTo>
                    <a:pt x="2736469" y="0"/>
                  </a:lnTo>
                  <a:cubicBezTo>
                    <a:pt x="3050794" y="0"/>
                    <a:pt x="3305429" y="256032"/>
                    <a:pt x="3305429" y="571500"/>
                  </a:cubicBezTo>
                  <a:lnTo>
                    <a:pt x="3278378" y="571500"/>
                  </a:lnTo>
                  <a:lnTo>
                    <a:pt x="3305429" y="571500"/>
                  </a:lnTo>
                  <a:lnTo>
                    <a:pt x="3305429" y="4034409"/>
                  </a:lnTo>
                  <a:lnTo>
                    <a:pt x="3278378" y="4034409"/>
                  </a:lnTo>
                  <a:lnTo>
                    <a:pt x="3305429" y="4034409"/>
                  </a:lnTo>
                  <a:cubicBezTo>
                    <a:pt x="3305429" y="4349877"/>
                    <a:pt x="3050794" y="4605909"/>
                    <a:pt x="2736469" y="4605909"/>
                  </a:cubicBezTo>
                  <a:lnTo>
                    <a:pt x="2736469" y="4578858"/>
                  </a:lnTo>
                  <a:lnTo>
                    <a:pt x="2736469" y="4605909"/>
                  </a:lnTo>
                  <a:lnTo>
                    <a:pt x="568960" y="4605909"/>
                  </a:lnTo>
                  <a:lnTo>
                    <a:pt x="568960" y="4578858"/>
                  </a:lnTo>
                  <a:lnTo>
                    <a:pt x="568960" y="4605909"/>
                  </a:lnTo>
                  <a:cubicBezTo>
                    <a:pt x="254635" y="4605909"/>
                    <a:pt x="0" y="4349877"/>
                    <a:pt x="0" y="4034409"/>
                  </a:cubicBezTo>
                  <a:lnTo>
                    <a:pt x="0" y="571500"/>
                  </a:lnTo>
                  <a:lnTo>
                    <a:pt x="27051" y="571500"/>
                  </a:lnTo>
                  <a:lnTo>
                    <a:pt x="0" y="571500"/>
                  </a:lnTo>
                  <a:moveTo>
                    <a:pt x="54229" y="571500"/>
                  </a:moveTo>
                  <a:lnTo>
                    <a:pt x="54229" y="4034409"/>
                  </a:lnTo>
                  <a:lnTo>
                    <a:pt x="27051" y="4034409"/>
                  </a:lnTo>
                  <a:lnTo>
                    <a:pt x="54229" y="4034409"/>
                  </a:lnTo>
                  <a:cubicBezTo>
                    <a:pt x="54229" y="4320286"/>
                    <a:pt x="284861" y="4551680"/>
                    <a:pt x="568960" y="4551680"/>
                  </a:cubicBezTo>
                  <a:lnTo>
                    <a:pt x="2736469" y="4551680"/>
                  </a:lnTo>
                  <a:cubicBezTo>
                    <a:pt x="3020695" y="4551680"/>
                    <a:pt x="3251200" y="4320159"/>
                    <a:pt x="3251200" y="4034409"/>
                  </a:cubicBezTo>
                  <a:lnTo>
                    <a:pt x="3251200" y="571500"/>
                  </a:lnTo>
                  <a:cubicBezTo>
                    <a:pt x="3251200" y="285623"/>
                    <a:pt x="3020568" y="54229"/>
                    <a:pt x="2736469" y="54229"/>
                  </a:cubicBezTo>
                  <a:lnTo>
                    <a:pt x="568960" y="54229"/>
                  </a:lnTo>
                  <a:lnTo>
                    <a:pt x="568960" y="27051"/>
                  </a:lnTo>
                  <a:lnTo>
                    <a:pt x="568960" y="54229"/>
                  </a:lnTo>
                  <a:cubicBezTo>
                    <a:pt x="284734" y="54229"/>
                    <a:pt x="54229" y="285623"/>
                    <a:pt x="54229" y="571500"/>
                  </a:cubicBezTo>
                  <a:close/>
                </a:path>
              </a:pathLst>
            </a:custGeom>
            <a:solidFill>
              <a:srgbClr val="333333"/>
            </a:solidFill>
          </p:spPr>
        </p:sp>
      </p:grpSp>
      <p:sp>
        <p:nvSpPr>
          <p:cNvPr name="TextBox 9" id="9"/>
          <p:cNvSpPr txBox="true"/>
          <p:nvPr/>
        </p:nvSpPr>
        <p:spPr>
          <a:xfrm rot="0">
            <a:off x="7309104" y="2162937"/>
            <a:ext cx="1962912" cy="2657475"/>
          </a:xfrm>
          <a:prstGeom prst="rect">
            <a:avLst/>
          </a:prstGeom>
        </p:spPr>
        <p:txBody>
          <a:bodyPr anchor="t" rtlCol="false" tIns="0" lIns="0" bIns="0" rIns="0">
            <a:spAutoFit/>
          </a:bodyPr>
          <a:lstStyle/>
          <a:p>
            <a:pPr algn="l">
              <a:lnSpc>
                <a:spcPts val="1791"/>
              </a:lnSpc>
            </a:pPr>
            <a:r>
              <a:rPr lang="en-US" sz="1493">
                <a:solidFill>
                  <a:srgbClr val="404040"/>
                </a:solidFill>
                <a:latin typeface="Calibri (MS)"/>
                <a:ea typeface="Calibri (MS)"/>
                <a:cs typeface="Calibri (MS)"/>
                <a:sym typeface="Calibri (MS)"/>
              </a:rPr>
              <a:t>🎯 Sensibilité (Recall Défaut): 93.4%</a:t>
            </a:r>
          </a:p>
          <a:p>
            <a:pPr algn="l">
              <a:lnSpc>
                <a:spcPts val="1791"/>
              </a:lnSpc>
            </a:pPr>
            <a:r>
              <a:rPr lang="en-US" sz="1493">
                <a:solidFill>
                  <a:srgbClr val="404040"/>
                </a:solidFill>
                <a:latin typeface="Calibri (MS)"/>
                <a:ea typeface="Calibri (MS)"/>
                <a:cs typeface="Calibri (MS)"/>
                <a:sym typeface="Calibri (MS)"/>
              </a:rPr>
              <a:t>   → Détecte 93.4% des défauts réels</a:t>
            </a:r>
          </a:p>
          <a:p>
            <a:pPr algn="l">
              <a:lnSpc>
                <a:spcPts val="1791"/>
              </a:lnSpc>
            </a:pPr>
          </a:p>
          <a:p>
            <a:pPr algn="l">
              <a:lnSpc>
                <a:spcPts val="1791"/>
              </a:lnSpc>
            </a:pPr>
          </a:p>
          <a:p>
            <a:pPr algn="l">
              <a:lnSpc>
                <a:spcPts val="1791"/>
              </a:lnSpc>
            </a:pPr>
          </a:p>
          <a:p>
            <a:pPr algn="l">
              <a:lnSpc>
                <a:spcPts val="1791"/>
              </a:lnSpc>
            </a:pPr>
          </a:p>
          <a:p>
            <a:pPr algn="l">
              <a:lnSpc>
                <a:spcPts val="1791"/>
              </a:lnSpc>
            </a:pPr>
            <a:r>
              <a:rPr lang="en-US" sz="1493">
                <a:solidFill>
                  <a:srgbClr val="404040"/>
                </a:solidFill>
                <a:latin typeface="Calibri (MS)"/>
                <a:ea typeface="Calibri (MS)"/>
                <a:cs typeface="Calibri (MS)"/>
                <a:sym typeface="Calibri (MS)"/>
              </a:rPr>
              <a:t>🛡️ Spécificité (Recall Normal): 73.8%</a:t>
            </a:r>
          </a:p>
          <a:p>
            <a:pPr algn="l">
              <a:lnSpc>
                <a:spcPts val="1791"/>
              </a:lnSpc>
            </a:pPr>
            <a:r>
              <a:rPr lang="en-US" sz="1493">
                <a:solidFill>
                  <a:srgbClr val="404040"/>
                </a:solidFill>
                <a:latin typeface="Calibri (MS)"/>
                <a:ea typeface="Calibri (MS)"/>
                <a:cs typeface="Calibri (MS)"/>
                <a:sym typeface="Calibri (MS)"/>
              </a:rPr>
              <a:t>   → 26.2% de taux de fausses alarmes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271653"/>
            <a:ext cx="9174480" cy="581025"/>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Métriques Spécifiques à la Détection de Défauts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a:grpSpLocks noChangeAspect="true"/>
          </p:cNvGrpSpPr>
          <p:nvPr/>
        </p:nvGrpSpPr>
        <p:grpSpPr>
          <a:xfrm rot="0">
            <a:off x="975360" y="1463040"/>
            <a:ext cx="7802880" cy="5819209"/>
            <a:chOff x="0" y="0"/>
            <a:chExt cx="10403840" cy="7758945"/>
          </a:xfrm>
        </p:grpSpPr>
        <p:sp>
          <p:nvSpPr>
            <p:cNvPr name="Freeform 5" id="5" descr="image.png"/>
            <p:cNvSpPr/>
            <p:nvPr/>
          </p:nvSpPr>
          <p:spPr>
            <a:xfrm flipH="false" flipV="false" rot="0">
              <a:off x="0" y="0"/>
              <a:ext cx="10403840" cy="7758938"/>
            </a:xfrm>
            <a:custGeom>
              <a:avLst/>
              <a:gdLst/>
              <a:ahLst/>
              <a:cxnLst/>
              <a:rect r="r" b="b" t="t" l="l"/>
              <a:pathLst>
                <a:path h="7758938" w="10403840">
                  <a:moveTo>
                    <a:pt x="0" y="0"/>
                  </a:moveTo>
                  <a:lnTo>
                    <a:pt x="10403840" y="0"/>
                  </a:lnTo>
                  <a:lnTo>
                    <a:pt x="10403840" y="7758938"/>
                  </a:lnTo>
                  <a:lnTo>
                    <a:pt x="0" y="7758938"/>
                  </a:lnTo>
                  <a:lnTo>
                    <a:pt x="0" y="0"/>
                  </a:lnTo>
                  <a:close/>
                </a:path>
              </a:pathLst>
            </a:custGeom>
            <a:blipFill>
              <a:blip r:embed="rId2"/>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Analyse des Erreurs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a:grpSpLocks noChangeAspect="true"/>
          </p:cNvGrpSpPr>
          <p:nvPr/>
        </p:nvGrpSpPr>
        <p:grpSpPr>
          <a:xfrm rot="0">
            <a:off x="487680" y="1463040"/>
            <a:ext cx="8778240" cy="3652188"/>
            <a:chOff x="0" y="0"/>
            <a:chExt cx="11704320" cy="4869584"/>
          </a:xfrm>
        </p:grpSpPr>
        <p:sp>
          <p:nvSpPr>
            <p:cNvPr name="Freeform 5" id="5" descr="image.png"/>
            <p:cNvSpPr/>
            <p:nvPr/>
          </p:nvSpPr>
          <p:spPr>
            <a:xfrm flipH="false" flipV="false" rot="0">
              <a:off x="0" y="0"/>
              <a:ext cx="11704320" cy="4869561"/>
            </a:xfrm>
            <a:custGeom>
              <a:avLst/>
              <a:gdLst/>
              <a:ahLst/>
              <a:cxnLst/>
              <a:rect r="r" b="b" t="t" l="l"/>
              <a:pathLst>
                <a:path h="4869561" w="11704320">
                  <a:moveTo>
                    <a:pt x="0" y="0"/>
                  </a:moveTo>
                  <a:lnTo>
                    <a:pt x="11704320" y="0"/>
                  </a:lnTo>
                  <a:lnTo>
                    <a:pt x="11704320" y="4869561"/>
                  </a:lnTo>
                  <a:lnTo>
                    <a:pt x="0" y="4869561"/>
                  </a:lnTo>
                  <a:lnTo>
                    <a:pt x="0" y="0"/>
                  </a:lnTo>
                  <a:close/>
                </a:path>
              </a:pathLst>
            </a:custGeom>
            <a:blipFill>
              <a:blip r:embed="rId2"/>
              <a:stretch>
                <a:fillRect l="0" t="0" r="0" b="0"/>
              </a:stretch>
            </a:blipFill>
          </p:spPr>
        </p:sp>
      </p:grpSp>
      <p:sp>
        <p:nvSpPr>
          <p:cNvPr name="TextBox 6" id="6"/>
          <p:cNvSpPr txBox="true"/>
          <p:nvPr/>
        </p:nvSpPr>
        <p:spPr>
          <a:xfrm rot="0">
            <a:off x="871728" y="6152388"/>
            <a:ext cx="8010144" cy="922020"/>
          </a:xfrm>
          <a:prstGeom prst="rect">
            <a:avLst/>
          </a:prstGeom>
        </p:spPr>
        <p:txBody>
          <a:bodyPr anchor="t" rtlCol="false" tIns="0" lIns="0" bIns="0" rIns="0">
            <a:spAutoFit/>
          </a:bodyPr>
          <a:lstStyle/>
          <a:p>
            <a:pPr algn="l">
              <a:lnSpc>
                <a:spcPts val="2047"/>
              </a:lnSpc>
            </a:pPr>
            <a:r>
              <a:rPr lang="en-US" sz="1706">
                <a:solidFill>
                  <a:srgbClr val="404040"/>
                </a:solidFill>
                <a:latin typeface="Calibri (MS)"/>
                <a:ea typeface="Calibri (MS)"/>
                <a:cs typeface="Calibri (MS)"/>
                <a:sym typeface="Calibri (MS)"/>
              </a:rPr>
              <a:t>⚠️ Fausses Alarmes (FP=235): Réduire par ajustement du seuil de décision</a:t>
            </a:r>
          </a:p>
          <a:p>
            <a:pPr algn="l">
              <a:lnSpc>
                <a:spcPts val="2047"/>
              </a:lnSpc>
            </a:pPr>
            <a:r>
              <a:rPr lang="en-US" sz="1706">
                <a:solidFill>
                  <a:srgbClr val="404040"/>
                </a:solidFill>
                <a:latin typeface="Calibri (MS)"/>
                <a:ea typeface="Calibri (MS)"/>
                <a:cs typeface="Calibri (MS)"/>
                <a:sym typeface="Calibri (MS)"/>
              </a:rPr>
              <a:t>🚨 Défauts Manqués (FN=60): Améliorer avec features additionnelles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Impact du Prétraitement (Étude d'Ablation)</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a:grpSpLocks noChangeAspect="true"/>
          </p:cNvGrpSpPr>
          <p:nvPr/>
        </p:nvGrpSpPr>
        <p:grpSpPr>
          <a:xfrm rot="0">
            <a:off x="487680" y="1463040"/>
            <a:ext cx="8778240" cy="5223171"/>
            <a:chOff x="0" y="0"/>
            <a:chExt cx="11704320" cy="6964228"/>
          </a:xfrm>
        </p:grpSpPr>
        <p:sp>
          <p:nvSpPr>
            <p:cNvPr name="Freeform 5" id="5" descr="image.png"/>
            <p:cNvSpPr/>
            <p:nvPr/>
          </p:nvSpPr>
          <p:spPr>
            <a:xfrm flipH="false" flipV="false" rot="0">
              <a:off x="0" y="0"/>
              <a:ext cx="11704320" cy="6964172"/>
            </a:xfrm>
            <a:custGeom>
              <a:avLst/>
              <a:gdLst/>
              <a:ahLst/>
              <a:cxnLst/>
              <a:rect r="r" b="b" t="t" l="l"/>
              <a:pathLst>
                <a:path h="6964172" w="11704320">
                  <a:moveTo>
                    <a:pt x="0" y="0"/>
                  </a:moveTo>
                  <a:lnTo>
                    <a:pt x="11704320" y="0"/>
                  </a:lnTo>
                  <a:lnTo>
                    <a:pt x="11704320" y="6964172"/>
                  </a:lnTo>
                  <a:lnTo>
                    <a:pt x="0" y="6964172"/>
                  </a:lnTo>
                  <a:lnTo>
                    <a:pt x="0" y="0"/>
                  </a:lnTo>
                  <a:close/>
                </a:path>
              </a:pathLst>
            </a:custGeom>
            <a:blipFill>
              <a:blip r:embed="rId2"/>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Points Clés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753195" y="1923627"/>
            <a:ext cx="8247211" cy="2199979"/>
            <a:chOff x="0" y="0"/>
            <a:chExt cx="10996281" cy="2933305"/>
          </a:xfrm>
        </p:grpSpPr>
        <p:sp>
          <p:nvSpPr>
            <p:cNvPr name="Freeform 5" id="5"/>
            <p:cNvSpPr/>
            <p:nvPr/>
          </p:nvSpPr>
          <p:spPr>
            <a:xfrm flipH="false" flipV="false" rot="0">
              <a:off x="36068" y="36068"/>
              <a:ext cx="10924032" cy="2861183"/>
            </a:xfrm>
            <a:custGeom>
              <a:avLst/>
              <a:gdLst/>
              <a:ahLst/>
              <a:cxnLst/>
              <a:rect r="r" b="b" t="t" l="l"/>
              <a:pathLst>
                <a:path h="2861183" w="10924032">
                  <a:moveTo>
                    <a:pt x="0" y="476885"/>
                  </a:moveTo>
                  <a:cubicBezTo>
                    <a:pt x="0" y="213487"/>
                    <a:pt x="217424" y="0"/>
                    <a:pt x="485648" y="0"/>
                  </a:cubicBezTo>
                  <a:lnTo>
                    <a:pt x="10438384" y="0"/>
                  </a:lnTo>
                  <a:cubicBezTo>
                    <a:pt x="10706608" y="0"/>
                    <a:pt x="10924032" y="213487"/>
                    <a:pt x="10924032" y="476885"/>
                  </a:cubicBezTo>
                  <a:lnTo>
                    <a:pt x="10924032" y="2384298"/>
                  </a:lnTo>
                  <a:cubicBezTo>
                    <a:pt x="10924032" y="2647696"/>
                    <a:pt x="10706608" y="2861183"/>
                    <a:pt x="10438384" y="2861183"/>
                  </a:cubicBezTo>
                  <a:lnTo>
                    <a:pt x="485775" y="2861183"/>
                  </a:lnTo>
                  <a:cubicBezTo>
                    <a:pt x="217551" y="2861183"/>
                    <a:pt x="127" y="2647696"/>
                    <a:pt x="127" y="2384298"/>
                  </a:cubicBezTo>
                  <a:close/>
                </a:path>
              </a:pathLst>
            </a:custGeom>
            <a:solidFill>
              <a:srgbClr val="F2F2F2"/>
            </a:solidFill>
          </p:spPr>
        </p:sp>
        <p:sp>
          <p:nvSpPr>
            <p:cNvPr name="Freeform 6" id="6"/>
            <p:cNvSpPr/>
            <p:nvPr/>
          </p:nvSpPr>
          <p:spPr>
            <a:xfrm flipH="false" flipV="false" rot="0">
              <a:off x="0" y="0"/>
              <a:ext cx="10996295" cy="2933319"/>
            </a:xfrm>
            <a:custGeom>
              <a:avLst/>
              <a:gdLst/>
              <a:ahLst/>
              <a:cxnLst/>
              <a:rect r="r" b="b" t="t" l="l"/>
              <a:pathLst>
                <a:path h="2933319" w="10996295">
                  <a:moveTo>
                    <a:pt x="0" y="512953"/>
                  </a:moveTo>
                  <a:cubicBezTo>
                    <a:pt x="0" y="229108"/>
                    <a:pt x="234188" y="0"/>
                    <a:pt x="521843" y="0"/>
                  </a:cubicBezTo>
                  <a:lnTo>
                    <a:pt x="10474452" y="0"/>
                  </a:lnTo>
                  <a:lnTo>
                    <a:pt x="10474452" y="36068"/>
                  </a:lnTo>
                  <a:lnTo>
                    <a:pt x="10474452" y="0"/>
                  </a:lnTo>
                  <a:cubicBezTo>
                    <a:pt x="10761980" y="0"/>
                    <a:pt x="10996295" y="229108"/>
                    <a:pt x="10996295" y="512953"/>
                  </a:cubicBezTo>
                  <a:lnTo>
                    <a:pt x="10960100" y="512953"/>
                  </a:lnTo>
                  <a:lnTo>
                    <a:pt x="10996168" y="512953"/>
                  </a:lnTo>
                  <a:lnTo>
                    <a:pt x="10996168" y="2420366"/>
                  </a:lnTo>
                  <a:lnTo>
                    <a:pt x="10960100" y="2420366"/>
                  </a:lnTo>
                  <a:lnTo>
                    <a:pt x="10996168" y="2420366"/>
                  </a:lnTo>
                  <a:cubicBezTo>
                    <a:pt x="10996168" y="2704338"/>
                    <a:pt x="10761980" y="2933319"/>
                    <a:pt x="10474325" y="2933319"/>
                  </a:cubicBezTo>
                  <a:lnTo>
                    <a:pt x="10474325" y="2897251"/>
                  </a:lnTo>
                  <a:lnTo>
                    <a:pt x="10474325" y="2933319"/>
                  </a:lnTo>
                  <a:lnTo>
                    <a:pt x="521843" y="2933319"/>
                  </a:lnTo>
                  <a:lnTo>
                    <a:pt x="521843" y="2897251"/>
                  </a:lnTo>
                  <a:lnTo>
                    <a:pt x="521843" y="2933319"/>
                  </a:lnTo>
                  <a:cubicBezTo>
                    <a:pt x="234188" y="2933319"/>
                    <a:pt x="0" y="2704211"/>
                    <a:pt x="0" y="2420366"/>
                  </a:cubicBezTo>
                  <a:lnTo>
                    <a:pt x="0" y="512953"/>
                  </a:lnTo>
                  <a:lnTo>
                    <a:pt x="36068" y="512953"/>
                  </a:lnTo>
                  <a:lnTo>
                    <a:pt x="0" y="512953"/>
                  </a:lnTo>
                  <a:moveTo>
                    <a:pt x="72263" y="512953"/>
                  </a:moveTo>
                  <a:lnTo>
                    <a:pt x="72263" y="2420366"/>
                  </a:lnTo>
                  <a:lnTo>
                    <a:pt x="36068" y="2420366"/>
                  </a:lnTo>
                  <a:lnTo>
                    <a:pt x="72263" y="2420366"/>
                  </a:lnTo>
                  <a:cubicBezTo>
                    <a:pt x="72263" y="2663190"/>
                    <a:pt x="272923" y="2861056"/>
                    <a:pt x="521843" y="2861056"/>
                  </a:cubicBezTo>
                  <a:lnTo>
                    <a:pt x="10474452" y="2861056"/>
                  </a:lnTo>
                  <a:cubicBezTo>
                    <a:pt x="10723372" y="2861056"/>
                    <a:pt x="10924032" y="2663063"/>
                    <a:pt x="10924032" y="2420366"/>
                  </a:cubicBezTo>
                  <a:lnTo>
                    <a:pt x="10924032" y="512953"/>
                  </a:lnTo>
                  <a:cubicBezTo>
                    <a:pt x="10924032" y="270129"/>
                    <a:pt x="10723372" y="72263"/>
                    <a:pt x="10474452" y="72263"/>
                  </a:cubicBezTo>
                  <a:lnTo>
                    <a:pt x="521843" y="72263"/>
                  </a:lnTo>
                  <a:lnTo>
                    <a:pt x="521843" y="36068"/>
                  </a:lnTo>
                  <a:lnTo>
                    <a:pt x="521843" y="72263"/>
                  </a:lnTo>
                  <a:cubicBezTo>
                    <a:pt x="272923" y="72263"/>
                    <a:pt x="72263" y="270256"/>
                    <a:pt x="72263" y="512953"/>
                  </a:cubicBezTo>
                  <a:close/>
                </a:path>
              </a:pathLst>
            </a:custGeom>
            <a:solidFill>
              <a:srgbClr val="00B050"/>
            </a:solidFill>
          </p:spPr>
        </p:sp>
      </p:grpSp>
      <p:sp>
        <p:nvSpPr>
          <p:cNvPr name="TextBox 7" id="7"/>
          <p:cNvSpPr txBox="true"/>
          <p:nvPr/>
        </p:nvSpPr>
        <p:spPr>
          <a:xfrm rot="0">
            <a:off x="1066800" y="2046351"/>
            <a:ext cx="7620000" cy="346329"/>
          </a:xfrm>
          <a:prstGeom prst="rect">
            <a:avLst/>
          </a:prstGeom>
        </p:spPr>
        <p:txBody>
          <a:bodyPr anchor="t" rtlCol="false" tIns="0" lIns="0" bIns="0" rIns="0">
            <a:spAutoFit/>
          </a:bodyPr>
          <a:lstStyle/>
          <a:p>
            <a:pPr algn="l">
              <a:lnSpc>
                <a:spcPts val="2560"/>
              </a:lnSpc>
            </a:pPr>
            <a:r>
              <a:rPr lang="en-US" sz="2133" b="true">
                <a:solidFill>
                  <a:srgbClr val="00B050"/>
                </a:solidFill>
                <a:latin typeface="Calibri (MS) Bold"/>
                <a:ea typeface="Calibri (MS) Bold"/>
                <a:cs typeface="Calibri (MS) Bold"/>
                <a:sym typeface="Calibri (MS) Bold"/>
              </a:rPr>
              <a:t>🎯 Forces du Modèle</a:t>
            </a:r>
          </a:p>
        </p:txBody>
      </p:sp>
      <p:sp>
        <p:nvSpPr>
          <p:cNvPr name="TextBox 8" id="8"/>
          <p:cNvSpPr txBox="true"/>
          <p:nvPr/>
        </p:nvSpPr>
        <p:spPr>
          <a:xfrm rot="0">
            <a:off x="1261872" y="2543556"/>
            <a:ext cx="7424928" cy="1312164"/>
          </a:xfrm>
          <a:prstGeom prst="rect">
            <a:avLst/>
          </a:prstGeom>
        </p:spPr>
        <p:txBody>
          <a:bodyPr anchor="t" rtlCol="false" tIns="0" lIns="0" bIns="0" rIns="0">
            <a:spAutoFit/>
          </a:bodyPr>
          <a:lstStyle/>
          <a:p>
            <a:pPr algn="l">
              <a:lnSpc>
                <a:spcPts val="2047"/>
              </a:lnSpc>
            </a:pPr>
            <a:r>
              <a:rPr lang="en-US" sz="1706">
                <a:solidFill>
                  <a:srgbClr val="404040"/>
                </a:solidFill>
                <a:latin typeface="Calibri (MS)"/>
                <a:ea typeface="Calibri (MS)"/>
                <a:cs typeface="Calibri (MS)"/>
                <a:sym typeface="Calibri (MS)"/>
              </a:rPr>
              <a:t>Excellent taux de détection des défauts (Recall 93.4%)</a:t>
            </a:r>
          </a:p>
          <a:p>
            <a:pPr algn="l">
              <a:lnSpc>
                <a:spcPts val="2047"/>
              </a:lnSpc>
            </a:pPr>
            <a:r>
              <a:rPr lang="en-US" sz="1706">
                <a:solidFill>
                  <a:srgbClr val="404040"/>
                </a:solidFill>
                <a:latin typeface="Calibri (MS)"/>
                <a:ea typeface="Calibri (MS)"/>
                <a:cs typeface="Calibri (MS)"/>
                <a:sym typeface="Calibri (MS)"/>
              </a:rPr>
              <a:t>Performance globale solide et cohérente (&gt;83%)</a:t>
            </a:r>
          </a:p>
          <a:p>
            <a:pPr algn="l">
              <a:lnSpc>
                <a:spcPts val="2047"/>
              </a:lnSpc>
            </a:pPr>
            <a:r>
              <a:rPr lang="en-US" sz="1706">
                <a:solidFill>
                  <a:srgbClr val="404040"/>
                </a:solidFill>
                <a:latin typeface="Calibri (MS)"/>
                <a:ea typeface="Calibri (MS)"/>
                <a:cs typeface="Calibri (MS)"/>
                <a:sym typeface="Calibri (MS)"/>
              </a:rPr>
              <a:t>Temps de prédiction compatible temps réel (&lt;1s)</a:t>
            </a:r>
          </a:p>
        </p:txBody>
      </p:sp>
      <p:grpSp>
        <p:nvGrpSpPr>
          <p:cNvPr name="Group 9" id="9"/>
          <p:cNvGrpSpPr/>
          <p:nvPr/>
        </p:nvGrpSpPr>
        <p:grpSpPr>
          <a:xfrm rot="0">
            <a:off x="753195" y="4362027"/>
            <a:ext cx="8247211" cy="2199979"/>
            <a:chOff x="0" y="0"/>
            <a:chExt cx="10996281" cy="2933305"/>
          </a:xfrm>
        </p:grpSpPr>
        <p:sp>
          <p:nvSpPr>
            <p:cNvPr name="Freeform 10" id="10"/>
            <p:cNvSpPr/>
            <p:nvPr/>
          </p:nvSpPr>
          <p:spPr>
            <a:xfrm flipH="false" flipV="false" rot="0">
              <a:off x="36068" y="36068"/>
              <a:ext cx="10924032" cy="2861183"/>
            </a:xfrm>
            <a:custGeom>
              <a:avLst/>
              <a:gdLst/>
              <a:ahLst/>
              <a:cxnLst/>
              <a:rect r="r" b="b" t="t" l="l"/>
              <a:pathLst>
                <a:path h="2861183" w="10924032">
                  <a:moveTo>
                    <a:pt x="0" y="476885"/>
                  </a:moveTo>
                  <a:cubicBezTo>
                    <a:pt x="0" y="213487"/>
                    <a:pt x="217424" y="0"/>
                    <a:pt x="485648" y="0"/>
                  </a:cubicBezTo>
                  <a:lnTo>
                    <a:pt x="10438384" y="0"/>
                  </a:lnTo>
                  <a:cubicBezTo>
                    <a:pt x="10706608" y="0"/>
                    <a:pt x="10924032" y="213487"/>
                    <a:pt x="10924032" y="476885"/>
                  </a:cubicBezTo>
                  <a:lnTo>
                    <a:pt x="10924032" y="2384298"/>
                  </a:lnTo>
                  <a:cubicBezTo>
                    <a:pt x="10924032" y="2647696"/>
                    <a:pt x="10706608" y="2861183"/>
                    <a:pt x="10438384" y="2861183"/>
                  </a:cubicBezTo>
                  <a:lnTo>
                    <a:pt x="485775" y="2861183"/>
                  </a:lnTo>
                  <a:cubicBezTo>
                    <a:pt x="217551" y="2861183"/>
                    <a:pt x="127" y="2647696"/>
                    <a:pt x="127" y="2384298"/>
                  </a:cubicBezTo>
                  <a:close/>
                </a:path>
              </a:pathLst>
            </a:custGeom>
            <a:solidFill>
              <a:srgbClr val="F2F2F2"/>
            </a:solidFill>
          </p:spPr>
        </p:sp>
        <p:sp>
          <p:nvSpPr>
            <p:cNvPr name="Freeform 11" id="11"/>
            <p:cNvSpPr/>
            <p:nvPr/>
          </p:nvSpPr>
          <p:spPr>
            <a:xfrm flipH="false" flipV="false" rot="0">
              <a:off x="0" y="0"/>
              <a:ext cx="10996295" cy="2933319"/>
            </a:xfrm>
            <a:custGeom>
              <a:avLst/>
              <a:gdLst/>
              <a:ahLst/>
              <a:cxnLst/>
              <a:rect r="r" b="b" t="t" l="l"/>
              <a:pathLst>
                <a:path h="2933319" w="10996295">
                  <a:moveTo>
                    <a:pt x="0" y="512953"/>
                  </a:moveTo>
                  <a:cubicBezTo>
                    <a:pt x="0" y="229108"/>
                    <a:pt x="234188" y="0"/>
                    <a:pt x="521843" y="0"/>
                  </a:cubicBezTo>
                  <a:lnTo>
                    <a:pt x="10474452" y="0"/>
                  </a:lnTo>
                  <a:lnTo>
                    <a:pt x="10474452" y="36068"/>
                  </a:lnTo>
                  <a:lnTo>
                    <a:pt x="10474452" y="0"/>
                  </a:lnTo>
                  <a:cubicBezTo>
                    <a:pt x="10761980" y="0"/>
                    <a:pt x="10996295" y="229108"/>
                    <a:pt x="10996295" y="512953"/>
                  </a:cubicBezTo>
                  <a:lnTo>
                    <a:pt x="10960100" y="512953"/>
                  </a:lnTo>
                  <a:lnTo>
                    <a:pt x="10996168" y="512953"/>
                  </a:lnTo>
                  <a:lnTo>
                    <a:pt x="10996168" y="2420366"/>
                  </a:lnTo>
                  <a:lnTo>
                    <a:pt x="10960100" y="2420366"/>
                  </a:lnTo>
                  <a:lnTo>
                    <a:pt x="10996168" y="2420366"/>
                  </a:lnTo>
                  <a:cubicBezTo>
                    <a:pt x="10996168" y="2704338"/>
                    <a:pt x="10761980" y="2933319"/>
                    <a:pt x="10474325" y="2933319"/>
                  </a:cubicBezTo>
                  <a:lnTo>
                    <a:pt x="10474325" y="2897251"/>
                  </a:lnTo>
                  <a:lnTo>
                    <a:pt x="10474325" y="2933319"/>
                  </a:lnTo>
                  <a:lnTo>
                    <a:pt x="521843" y="2933319"/>
                  </a:lnTo>
                  <a:lnTo>
                    <a:pt x="521843" y="2897251"/>
                  </a:lnTo>
                  <a:lnTo>
                    <a:pt x="521843" y="2933319"/>
                  </a:lnTo>
                  <a:cubicBezTo>
                    <a:pt x="234188" y="2933319"/>
                    <a:pt x="0" y="2704211"/>
                    <a:pt x="0" y="2420366"/>
                  </a:cubicBezTo>
                  <a:lnTo>
                    <a:pt x="0" y="512953"/>
                  </a:lnTo>
                  <a:lnTo>
                    <a:pt x="36068" y="512953"/>
                  </a:lnTo>
                  <a:lnTo>
                    <a:pt x="0" y="512953"/>
                  </a:lnTo>
                  <a:moveTo>
                    <a:pt x="72263" y="512953"/>
                  </a:moveTo>
                  <a:lnTo>
                    <a:pt x="72263" y="2420366"/>
                  </a:lnTo>
                  <a:lnTo>
                    <a:pt x="36068" y="2420366"/>
                  </a:lnTo>
                  <a:lnTo>
                    <a:pt x="72263" y="2420366"/>
                  </a:lnTo>
                  <a:cubicBezTo>
                    <a:pt x="72263" y="2663190"/>
                    <a:pt x="272923" y="2861056"/>
                    <a:pt x="521843" y="2861056"/>
                  </a:cubicBezTo>
                  <a:lnTo>
                    <a:pt x="10474452" y="2861056"/>
                  </a:lnTo>
                  <a:cubicBezTo>
                    <a:pt x="10723372" y="2861056"/>
                    <a:pt x="10924032" y="2663063"/>
                    <a:pt x="10924032" y="2420366"/>
                  </a:cubicBezTo>
                  <a:lnTo>
                    <a:pt x="10924032" y="512953"/>
                  </a:lnTo>
                  <a:cubicBezTo>
                    <a:pt x="10924032" y="270129"/>
                    <a:pt x="10723372" y="72263"/>
                    <a:pt x="10474452" y="72263"/>
                  </a:cubicBezTo>
                  <a:lnTo>
                    <a:pt x="521843" y="72263"/>
                  </a:lnTo>
                  <a:lnTo>
                    <a:pt x="521843" y="36068"/>
                  </a:lnTo>
                  <a:lnTo>
                    <a:pt x="521843" y="72263"/>
                  </a:lnTo>
                  <a:cubicBezTo>
                    <a:pt x="272923" y="72263"/>
                    <a:pt x="72263" y="270256"/>
                    <a:pt x="72263" y="512953"/>
                  </a:cubicBezTo>
                  <a:close/>
                </a:path>
              </a:pathLst>
            </a:custGeom>
            <a:solidFill>
              <a:srgbClr val="FFC000"/>
            </a:solidFill>
          </p:spPr>
        </p:sp>
      </p:grpSp>
      <p:sp>
        <p:nvSpPr>
          <p:cNvPr name="TextBox 12" id="12"/>
          <p:cNvSpPr txBox="true"/>
          <p:nvPr/>
        </p:nvSpPr>
        <p:spPr>
          <a:xfrm rot="0">
            <a:off x="1066800" y="4484751"/>
            <a:ext cx="7620000" cy="346329"/>
          </a:xfrm>
          <a:prstGeom prst="rect">
            <a:avLst/>
          </a:prstGeom>
        </p:spPr>
        <p:txBody>
          <a:bodyPr anchor="t" rtlCol="false" tIns="0" lIns="0" bIns="0" rIns="0">
            <a:spAutoFit/>
          </a:bodyPr>
          <a:lstStyle/>
          <a:p>
            <a:pPr algn="l">
              <a:lnSpc>
                <a:spcPts val="2560"/>
              </a:lnSpc>
            </a:pPr>
            <a:r>
              <a:rPr lang="en-US" sz="2133" b="true">
                <a:solidFill>
                  <a:srgbClr val="FFC000"/>
                </a:solidFill>
                <a:latin typeface="Calibri (MS) Bold"/>
                <a:ea typeface="Calibri (MS) Bold"/>
                <a:cs typeface="Calibri (MS) Bold"/>
                <a:sym typeface="Calibri (MS) Bold"/>
              </a:rPr>
              <a:t>⚠️ Axes d'Amélioration</a:t>
            </a:r>
          </a:p>
        </p:txBody>
      </p:sp>
      <p:sp>
        <p:nvSpPr>
          <p:cNvPr name="TextBox 13" id="13"/>
          <p:cNvSpPr txBox="true"/>
          <p:nvPr/>
        </p:nvSpPr>
        <p:spPr>
          <a:xfrm rot="0">
            <a:off x="1261872" y="4981956"/>
            <a:ext cx="7424928" cy="1312164"/>
          </a:xfrm>
          <a:prstGeom prst="rect">
            <a:avLst/>
          </a:prstGeom>
        </p:spPr>
        <p:txBody>
          <a:bodyPr anchor="t" rtlCol="false" tIns="0" lIns="0" bIns="0" rIns="0">
            <a:spAutoFit/>
          </a:bodyPr>
          <a:lstStyle/>
          <a:p>
            <a:pPr algn="l">
              <a:lnSpc>
                <a:spcPts val="2047"/>
              </a:lnSpc>
            </a:pPr>
            <a:r>
              <a:rPr lang="en-US" sz="1706">
                <a:solidFill>
                  <a:srgbClr val="404040"/>
                </a:solidFill>
                <a:latin typeface="Calibri (MS)"/>
                <a:ea typeface="Calibri (MS)"/>
                <a:cs typeface="Calibri (MS)"/>
                <a:sym typeface="Calibri (MS)"/>
              </a:rPr>
              <a:t>Réduire les fausses alarmes (Précision Défaut 78%)</a:t>
            </a:r>
          </a:p>
          <a:p>
            <a:pPr algn="l">
              <a:lnSpc>
                <a:spcPts val="2047"/>
              </a:lnSpc>
            </a:pPr>
            <a:r>
              <a:rPr lang="en-US" sz="1706">
                <a:solidFill>
                  <a:srgbClr val="404040"/>
                </a:solidFill>
                <a:latin typeface="Calibri (MS)"/>
                <a:ea typeface="Calibri (MS)"/>
                <a:cs typeface="Calibri (MS)"/>
                <a:sym typeface="Calibri (MS)"/>
              </a:rPr>
              <a:t>Explorer distances adaptées séries temporelles (DTW)</a:t>
            </a:r>
          </a:p>
          <a:p>
            <a:pPr algn="l">
              <a:lnSpc>
                <a:spcPts val="2047"/>
              </a:lnSpc>
            </a:pPr>
            <a:r>
              <a:rPr lang="en-US" sz="1706">
                <a:solidFill>
                  <a:srgbClr val="404040"/>
                </a:solidFill>
                <a:latin typeface="Calibri (MS)"/>
                <a:ea typeface="Calibri (MS)"/>
                <a:cs typeface="Calibri (MS)"/>
                <a:sym typeface="Calibri (MS)"/>
              </a:rPr>
              <a:t>Tester ensembles pour robustesse accrue</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9120" y="271653"/>
            <a:ext cx="8595360" cy="755523"/>
          </a:xfrm>
          <a:prstGeom prst="rect">
            <a:avLst/>
          </a:prstGeom>
        </p:spPr>
        <p:txBody>
          <a:bodyPr anchor="t" rtlCol="false" tIns="0" lIns="0" bIns="0" rIns="0">
            <a:spAutoFit/>
          </a:bodyPr>
          <a:lstStyle/>
          <a:p>
            <a:pPr algn="l">
              <a:lnSpc>
                <a:spcPts val="4095"/>
              </a:lnSpc>
            </a:pPr>
            <a:r>
              <a:rPr lang="en-US" sz="3413" b="true">
                <a:solidFill>
                  <a:srgbClr val="333333"/>
                </a:solidFill>
                <a:latin typeface="Calibri (MS) Bold"/>
                <a:ea typeface="Calibri (MS) Bold"/>
                <a:cs typeface="Calibri (MS) Bold"/>
                <a:sym typeface="Calibri (MS) Bold"/>
              </a:rPr>
              <a:t>Conclusions et Perspectives</a:t>
            </a:r>
          </a:p>
        </p:txBody>
      </p:sp>
      <p:sp>
        <p:nvSpPr>
          <p:cNvPr name="AutoShape 3" id="3"/>
          <p:cNvSpPr/>
          <p:nvPr/>
        </p:nvSpPr>
        <p:spPr>
          <a:xfrm rot="15842">
            <a:off x="467313" y="1063371"/>
            <a:ext cx="8818974" cy="0"/>
          </a:xfrm>
          <a:prstGeom prst="line">
            <a:avLst/>
          </a:prstGeom>
          <a:ln cap="rnd" w="28575">
            <a:solidFill>
              <a:srgbClr val="666666"/>
            </a:solidFill>
            <a:prstDash val="solid"/>
            <a:headEnd type="none" len="sm" w="sm"/>
            <a:tailEnd type="none" len="sm" w="sm"/>
          </a:ln>
        </p:spPr>
      </p:sp>
      <p:grpSp>
        <p:nvGrpSpPr>
          <p:cNvPr name="Group 4" id="4"/>
          <p:cNvGrpSpPr/>
          <p:nvPr/>
        </p:nvGrpSpPr>
        <p:grpSpPr>
          <a:xfrm rot="0">
            <a:off x="775208" y="1945640"/>
            <a:ext cx="4106672" cy="1960880"/>
            <a:chOff x="0" y="0"/>
            <a:chExt cx="5475563" cy="2614507"/>
          </a:xfrm>
        </p:grpSpPr>
        <p:sp>
          <p:nvSpPr>
            <p:cNvPr name="Freeform 5" id="5"/>
            <p:cNvSpPr/>
            <p:nvPr/>
          </p:nvSpPr>
          <p:spPr>
            <a:xfrm flipH="false" flipV="false" rot="0">
              <a:off x="6731" y="6731"/>
              <a:ext cx="5462143" cy="2600960"/>
            </a:xfrm>
            <a:custGeom>
              <a:avLst/>
              <a:gdLst/>
              <a:ahLst/>
              <a:cxnLst/>
              <a:rect r="r" b="b" t="t" l="l"/>
              <a:pathLst>
                <a:path h="2600960" w="5462143">
                  <a:moveTo>
                    <a:pt x="0" y="433578"/>
                  </a:moveTo>
                  <a:cubicBezTo>
                    <a:pt x="0" y="194183"/>
                    <a:pt x="194691" y="0"/>
                    <a:pt x="434721" y="0"/>
                  </a:cubicBezTo>
                  <a:lnTo>
                    <a:pt x="5027422" y="0"/>
                  </a:lnTo>
                  <a:cubicBezTo>
                    <a:pt x="5267452" y="0"/>
                    <a:pt x="5462143" y="194056"/>
                    <a:pt x="5462143" y="433451"/>
                  </a:cubicBezTo>
                  <a:lnTo>
                    <a:pt x="5462143" y="2167509"/>
                  </a:lnTo>
                  <a:cubicBezTo>
                    <a:pt x="5462143" y="2406904"/>
                    <a:pt x="5267579" y="2600960"/>
                    <a:pt x="5027422" y="2600960"/>
                  </a:cubicBezTo>
                  <a:lnTo>
                    <a:pt x="434721" y="2600960"/>
                  </a:lnTo>
                  <a:cubicBezTo>
                    <a:pt x="194691" y="2600960"/>
                    <a:pt x="0" y="2406904"/>
                    <a:pt x="0" y="2167509"/>
                  </a:cubicBezTo>
                  <a:close/>
                </a:path>
              </a:pathLst>
            </a:custGeom>
            <a:solidFill>
              <a:srgbClr val="333333"/>
            </a:solidFill>
          </p:spPr>
        </p:sp>
        <p:sp>
          <p:nvSpPr>
            <p:cNvPr name="Freeform 6" id="6"/>
            <p:cNvSpPr/>
            <p:nvPr/>
          </p:nvSpPr>
          <p:spPr>
            <a:xfrm flipH="false" flipV="false" rot="0">
              <a:off x="0" y="0"/>
              <a:ext cx="5475605" cy="2614549"/>
            </a:xfrm>
            <a:custGeom>
              <a:avLst/>
              <a:gdLst/>
              <a:ahLst/>
              <a:cxnLst/>
              <a:rect r="r" b="b" t="t" l="l"/>
              <a:pathLst>
                <a:path h="2614549" w="5475605">
                  <a:moveTo>
                    <a:pt x="0" y="440309"/>
                  </a:moveTo>
                  <a:cubicBezTo>
                    <a:pt x="0" y="197104"/>
                    <a:pt x="197612" y="0"/>
                    <a:pt x="441452" y="0"/>
                  </a:cubicBezTo>
                  <a:lnTo>
                    <a:pt x="5034153" y="0"/>
                  </a:lnTo>
                  <a:lnTo>
                    <a:pt x="5034153" y="6731"/>
                  </a:lnTo>
                  <a:lnTo>
                    <a:pt x="5034153" y="0"/>
                  </a:lnTo>
                  <a:cubicBezTo>
                    <a:pt x="5277993" y="0"/>
                    <a:pt x="5475605" y="197104"/>
                    <a:pt x="5475605" y="440309"/>
                  </a:cubicBezTo>
                  <a:lnTo>
                    <a:pt x="5468874" y="440309"/>
                  </a:lnTo>
                  <a:lnTo>
                    <a:pt x="5475605" y="440309"/>
                  </a:lnTo>
                  <a:lnTo>
                    <a:pt x="5475605" y="2174240"/>
                  </a:lnTo>
                  <a:lnTo>
                    <a:pt x="5468874" y="2174240"/>
                  </a:lnTo>
                  <a:lnTo>
                    <a:pt x="5475605" y="2174240"/>
                  </a:lnTo>
                  <a:cubicBezTo>
                    <a:pt x="5475605" y="2417445"/>
                    <a:pt x="5277993" y="2614549"/>
                    <a:pt x="5034153" y="2614549"/>
                  </a:cubicBezTo>
                  <a:lnTo>
                    <a:pt x="5034153" y="2607818"/>
                  </a:lnTo>
                  <a:lnTo>
                    <a:pt x="5034153" y="2614549"/>
                  </a:lnTo>
                  <a:lnTo>
                    <a:pt x="441452" y="2614549"/>
                  </a:lnTo>
                  <a:lnTo>
                    <a:pt x="441452" y="2607818"/>
                  </a:lnTo>
                  <a:lnTo>
                    <a:pt x="441452" y="2614549"/>
                  </a:lnTo>
                  <a:cubicBezTo>
                    <a:pt x="197612" y="2614549"/>
                    <a:pt x="0" y="2417445"/>
                    <a:pt x="0" y="2174240"/>
                  </a:cubicBezTo>
                  <a:lnTo>
                    <a:pt x="0" y="440309"/>
                  </a:lnTo>
                  <a:lnTo>
                    <a:pt x="6731" y="440309"/>
                  </a:lnTo>
                  <a:lnTo>
                    <a:pt x="0" y="440309"/>
                  </a:lnTo>
                  <a:moveTo>
                    <a:pt x="13589" y="440309"/>
                  </a:moveTo>
                  <a:lnTo>
                    <a:pt x="13589" y="2174240"/>
                  </a:lnTo>
                  <a:lnTo>
                    <a:pt x="6731" y="2174240"/>
                  </a:lnTo>
                  <a:lnTo>
                    <a:pt x="13462" y="2174240"/>
                  </a:lnTo>
                  <a:cubicBezTo>
                    <a:pt x="13462" y="2409952"/>
                    <a:pt x="204978" y="2600960"/>
                    <a:pt x="441325" y="2600960"/>
                  </a:cubicBezTo>
                  <a:lnTo>
                    <a:pt x="5034153" y="2600960"/>
                  </a:lnTo>
                  <a:cubicBezTo>
                    <a:pt x="5270500" y="2600960"/>
                    <a:pt x="5462016" y="2409952"/>
                    <a:pt x="5462016" y="2174240"/>
                  </a:cubicBezTo>
                  <a:lnTo>
                    <a:pt x="5462016" y="440309"/>
                  </a:lnTo>
                  <a:cubicBezTo>
                    <a:pt x="5462016" y="204597"/>
                    <a:pt x="5270500" y="13589"/>
                    <a:pt x="5034153" y="13589"/>
                  </a:cubicBezTo>
                  <a:lnTo>
                    <a:pt x="441452" y="13589"/>
                  </a:lnTo>
                  <a:lnTo>
                    <a:pt x="441452" y="6731"/>
                  </a:lnTo>
                  <a:lnTo>
                    <a:pt x="441452" y="13462"/>
                  </a:lnTo>
                  <a:cubicBezTo>
                    <a:pt x="205105" y="13462"/>
                    <a:pt x="13589" y="204470"/>
                    <a:pt x="13589" y="440182"/>
                  </a:cubicBezTo>
                  <a:close/>
                </a:path>
              </a:pathLst>
            </a:custGeom>
            <a:solidFill>
              <a:srgbClr val="4A7EBB"/>
            </a:solidFill>
          </p:spPr>
        </p:sp>
      </p:grpSp>
      <p:sp>
        <p:nvSpPr>
          <p:cNvPr name="TextBox 7" id="7"/>
          <p:cNvSpPr txBox="true"/>
          <p:nvPr/>
        </p:nvSpPr>
        <p:spPr>
          <a:xfrm rot="0">
            <a:off x="1066800" y="2143887"/>
            <a:ext cx="3523488" cy="443865"/>
          </a:xfrm>
          <a:prstGeom prst="rect">
            <a:avLst/>
          </a:prstGeom>
        </p:spPr>
        <p:txBody>
          <a:bodyPr anchor="t" rtlCol="false" tIns="0" lIns="0" bIns="0" rIns="0">
            <a:spAutoFit/>
          </a:bodyPr>
          <a:lstStyle/>
          <a:p>
            <a:pPr algn="l">
              <a:lnSpc>
                <a:spcPts val="2304"/>
              </a:lnSpc>
            </a:pPr>
            <a:r>
              <a:rPr lang="en-US" sz="1920" b="true">
                <a:solidFill>
                  <a:srgbClr val="FFFFFF"/>
                </a:solidFill>
                <a:latin typeface="Calibri (MS) Bold"/>
                <a:ea typeface="Calibri (MS) Bold"/>
                <a:cs typeface="Calibri (MS) Bold"/>
                <a:sym typeface="Calibri (MS) Bold"/>
              </a:rPr>
              <a:t>✅ Objectifs Atteints</a:t>
            </a:r>
          </a:p>
        </p:txBody>
      </p:sp>
      <p:sp>
        <p:nvSpPr>
          <p:cNvPr name="TextBox 8" id="8"/>
          <p:cNvSpPr txBox="true"/>
          <p:nvPr/>
        </p:nvSpPr>
        <p:spPr>
          <a:xfrm rot="0">
            <a:off x="1066800" y="2748153"/>
            <a:ext cx="3523488" cy="912495"/>
          </a:xfrm>
          <a:prstGeom prst="rect">
            <a:avLst/>
          </a:prstGeom>
        </p:spPr>
        <p:txBody>
          <a:bodyPr anchor="t" rtlCol="false" tIns="0" lIns="0" bIns="0" rIns="0">
            <a:spAutoFit/>
          </a:bodyPr>
          <a:lstStyle/>
          <a:p>
            <a:pPr algn="l">
              <a:lnSpc>
                <a:spcPts val="1791"/>
              </a:lnSpc>
            </a:pPr>
            <a:r>
              <a:rPr lang="en-US" sz="1493">
                <a:solidFill>
                  <a:srgbClr val="FFFFFF"/>
                </a:solidFill>
                <a:latin typeface="Calibri (MS)"/>
                <a:ea typeface="Calibri (MS)"/>
                <a:cs typeface="Calibri (MS)"/>
                <a:sym typeface="Calibri (MS)"/>
              </a:rPr>
              <a:t>Précision 83.6%, détection défauts &gt;93%, temps réel OK</a:t>
            </a:r>
          </a:p>
        </p:txBody>
      </p:sp>
      <p:grpSp>
        <p:nvGrpSpPr>
          <p:cNvPr name="Group 9" id="9"/>
          <p:cNvGrpSpPr/>
          <p:nvPr/>
        </p:nvGrpSpPr>
        <p:grpSpPr>
          <a:xfrm rot="0">
            <a:off x="5261864" y="1945640"/>
            <a:ext cx="4106672" cy="1960880"/>
            <a:chOff x="0" y="0"/>
            <a:chExt cx="5475563" cy="2614507"/>
          </a:xfrm>
        </p:grpSpPr>
        <p:sp>
          <p:nvSpPr>
            <p:cNvPr name="Freeform 10" id="10"/>
            <p:cNvSpPr/>
            <p:nvPr/>
          </p:nvSpPr>
          <p:spPr>
            <a:xfrm flipH="false" flipV="false" rot="0">
              <a:off x="6731" y="6731"/>
              <a:ext cx="5462143" cy="2600960"/>
            </a:xfrm>
            <a:custGeom>
              <a:avLst/>
              <a:gdLst/>
              <a:ahLst/>
              <a:cxnLst/>
              <a:rect r="r" b="b" t="t" l="l"/>
              <a:pathLst>
                <a:path h="2600960" w="5462143">
                  <a:moveTo>
                    <a:pt x="0" y="433578"/>
                  </a:moveTo>
                  <a:cubicBezTo>
                    <a:pt x="0" y="194183"/>
                    <a:pt x="194691" y="0"/>
                    <a:pt x="434721" y="0"/>
                  </a:cubicBezTo>
                  <a:lnTo>
                    <a:pt x="5027422" y="0"/>
                  </a:lnTo>
                  <a:cubicBezTo>
                    <a:pt x="5267452" y="0"/>
                    <a:pt x="5462143" y="194056"/>
                    <a:pt x="5462143" y="433451"/>
                  </a:cubicBezTo>
                  <a:lnTo>
                    <a:pt x="5462143" y="2167509"/>
                  </a:lnTo>
                  <a:cubicBezTo>
                    <a:pt x="5462143" y="2406904"/>
                    <a:pt x="5267579" y="2600960"/>
                    <a:pt x="5027422" y="2600960"/>
                  </a:cubicBezTo>
                  <a:lnTo>
                    <a:pt x="434721" y="2600960"/>
                  </a:lnTo>
                  <a:cubicBezTo>
                    <a:pt x="194691" y="2600960"/>
                    <a:pt x="0" y="2406904"/>
                    <a:pt x="0" y="2167509"/>
                  </a:cubicBezTo>
                  <a:close/>
                </a:path>
              </a:pathLst>
            </a:custGeom>
            <a:solidFill>
              <a:srgbClr val="333333"/>
            </a:solidFill>
          </p:spPr>
        </p:sp>
        <p:sp>
          <p:nvSpPr>
            <p:cNvPr name="Freeform 11" id="11"/>
            <p:cNvSpPr/>
            <p:nvPr/>
          </p:nvSpPr>
          <p:spPr>
            <a:xfrm flipH="false" flipV="false" rot="0">
              <a:off x="0" y="0"/>
              <a:ext cx="5475605" cy="2614549"/>
            </a:xfrm>
            <a:custGeom>
              <a:avLst/>
              <a:gdLst/>
              <a:ahLst/>
              <a:cxnLst/>
              <a:rect r="r" b="b" t="t" l="l"/>
              <a:pathLst>
                <a:path h="2614549" w="5475605">
                  <a:moveTo>
                    <a:pt x="0" y="440309"/>
                  </a:moveTo>
                  <a:cubicBezTo>
                    <a:pt x="0" y="197104"/>
                    <a:pt x="197612" y="0"/>
                    <a:pt x="441452" y="0"/>
                  </a:cubicBezTo>
                  <a:lnTo>
                    <a:pt x="5034153" y="0"/>
                  </a:lnTo>
                  <a:lnTo>
                    <a:pt x="5034153" y="6731"/>
                  </a:lnTo>
                  <a:lnTo>
                    <a:pt x="5034153" y="0"/>
                  </a:lnTo>
                  <a:cubicBezTo>
                    <a:pt x="5277993" y="0"/>
                    <a:pt x="5475605" y="197104"/>
                    <a:pt x="5475605" y="440309"/>
                  </a:cubicBezTo>
                  <a:lnTo>
                    <a:pt x="5468874" y="440309"/>
                  </a:lnTo>
                  <a:lnTo>
                    <a:pt x="5475605" y="440309"/>
                  </a:lnTo>
                  <a:lnTo>
                    <a:pt x="5475605" y="2174240"/>
                  </a:lnTo>
                  <a:lnTo>
                    <a:pt x="5468874" y="2174240"/>
                  </a:lnTo>
                  <a:lnTo>
                    <a:pt x="5475605" y="2174240"/>
                  </a:lnTo>
                  <a:cubicBezTo>
                    <a:pt x="5475605" y="2417445"/>
                    <a:pt x="5277993" y="2614549"/>
                    <a:pt x="5034153" y="2614549"/>
                  </a:cubicBezTo>
                  <a:lnTo>
                    <a:pt x="5034153" y="2607818"/>
                  </a:lnTo>
                  <a:lnTo>
                    <a:pt x="5034153" y="2614549"/>
                  </a:lnTo>
                  <a:lnTo>
                    <a:pt x="441452" y="2614549"/>
                  </a:lnTo>
                  <a:lnTo>
                    <a:pt x="441452" y="2607818"/>
                  </a:lnTo>
                  <a:lnTo>
                    <a:pt x="441452" y="2614549"/>
                  </a:lnTo>
                  <a:cubicBezTo>
                    <a:pt x="197612" y="2614549"/>
                    <a:pt x="0" y="2417445"/>
                    <a:pt x="0" y="2174240"/>
                  </a:cubicBezTo>
                  <a:lnTo>
                    <a:pt x="0" y="440309"/>
                  </a:lnTo>
                  <a:lnTo>
                    <a:pt x="6731" y="440309"/>
                  </a:lnTo>
                  <a:lnTo>
                    <a:pt x="0" y="440309"/>
                  </a:lnTo>
                  <a:moveTo>
                    <a:pt x="13589" y="440309"/>
                  </a:moveTo>
                  <a:lnTo>
                    <a:pt x="13589" y="2174240"/>
                  </a:lnTo>
                  <a:lnTo>
                    <a:pt x="6731" y="2174240"/>
                  </a:lnTo>
                  <a:lnTo>
                    <a:pt x="13462" y="2174240"/>
                  </a:lnTo>
                  <a:cubicBezTo>
                    <a:pt x="13462" y="2409952"/>
                    <a:pt x="204978" y="2600960"/>
                    <a:pt x="441325" y="2600960"/>
                  </a:cubicBezTo>
                  <a:lnTo>
                    <a:pt x="5034153" y="2600960"/>
                  </a:lnTo>
                  <a:cubicBezTo>
                    <a:pt x="5270500" y="2600960"/>
                    <a:pt x="5462016" y="2409952"/>
                    <a:pt x="5462016" y="2174240"/>
                  </a:cubicBezTo>
                  <a:lnTo>
                    <a:pt x="5462016" y="440309"/>
                  </a:lnTo>
                  <a:cubicBezTo>
                    <a:pt x="5462016" y="204597"/>
                    <a:pt x="5270500" y="13589"/>
                    <a:pt x="5034153" y="13589"/>
                  </a:cubicBezTo>
                  <a:lnTo>
                    <a:pt x="441452" y="13589"/>
                  </a:lnTo>
                  <a:lnTo>
                    <a:pt x="441452" y="6731"/>
                  </a:lnTo>
                  <a:lnTo>
                    <a:pt x="441452" y="13462"/>
                  </a:lnTo>
                  <a:cubicBezTo>
                    <a:pt x="205105" y="13462"/>
                    <a:pt x="13589" y="204470"/>
                    <a:pt x="13589" y="440182"/>
                  </a:cubicBezTo>
                  <a:close/>
                </a:path>
              </a:pathLst>
            </a:custGeom>
            <a:solidFill>
              <a:srgbClr val="4A7EBB"/>
            </a:solidFill>
          </p:spPr>
        </p:sp>
      </p:grpSp>
      <p:sp>
        <p:nvSpPr>
          <p:cNvPr name="TextBox 12" id="12"/>
          <p:cNvSpPr txBox="true"/>
          <p:nvPr/>
        </p:nvSpPr>
        <p:spPr>
          <a:xfrm rot="0">
            <a:off x="5553456" y="2143887"/>
            <a:ext cx="3523488" cy="443865"/>
          </a:xfrm>
          <a:prstGeom prst="rect">
            <a:avLst/>
          </a:prstGeom>
        </p:spPr>
        <p:txBody>
          <a:bodyPr anchor="t" rtlCol="false" tIns="0" lIns="0" bIns="0" rIns="0">
            <a:spAutoFit/>
          </a:bodyPr>
          <a:lstStyle/>
          <a:p>
            <a:pPr algn="l">
              <a:lnSpc>
                <a:spcPts val="2304"/>
              </a:lnSpc>
            </a:pPr>
            <a:r>
              <a:rPr lang="en-US" sz="1920" b="true">
                <a:solidFill>
                  <a:srgbClr val="FFFFFF"/>
                </a:solidFill>
                <a:latin typeface="Calibri (MS) Bold"/>
                <a:ea typeface="Calibri (MS) Bold"/>
                <a:cs typeface="Calibri (MS) Bold"/>
                <a:sym typeface="Calibri (MS) Bold"/>
              </a:rPr>
              <a:t>🔧 Pipeline Critique</a:t>
            </a:r>
          </a:p>
        </p:txBody>
      </p:sp>
      <p:sp>
        <p:nvSpPr>
          <p:cNvPr name="TextBox 13" id="13"/>
          <p:cNvSpPr txBox="true"/>
          <p:nvPr/>
        </p:nvSpPr>
        <p:spPr>
          <a:xfrm rot="0">
            <a:off x="5553456" y="2748153"/>
            <a:ext cx="3523488" cy="912495"/>
          </a:xfrm>
          <a:prstGeom prst="rect">
            <a:avLst/>
          </a:prstGeom>
        </p:spPr>
        <p:txBody>
          <a:bodyPr anchor="t" rtlCol="false" tIns="0" lIns="0" bIns="0" rIns="0">
            <a:spAutoFit/>
          </a:bodyPr>
          <a:lstStyle/>
          <a:p>
            <a:pPr algn="l">
              <a:lnSpc>
                <a:spcPts val="1791"/>
              </a:lnSpc>
            </a:pPr>
            <a:r>
              <a:rPr lang="en-US" sz="1493">
                <a:solidFill>
                  <a:srgbClr val="FFFFFF"/>
                </a:solidFill>
                <a:latin typeface="Calibri (MS)"/>
                <a:ea typeface="Calibri (MS)"/>
                <a:cs typeface="Calibri (MS)"/>
                <a:sym typeface="Calibri (MS)"/>
              </a:rPr>
              <a:t>Standardisation + ACP essentiel (+10 points vs baseline)</a:t>
            </a:r>
          </a:p>
        </p:txBody>
      </p:sp>
      <p:grpSp>
        <p:nvGrpSpPr>
          <p:cNvPr name="Group 14" id="14"/>
          <p:cNvGrpSpPr/>
          <p:nvPr/>
        </p:nvGrpSpPr>
        <p:grpSpPr>
          <a:xfrm rot="0">
            <a:off x="775208" y="4188968"/>
            <a:ext cx="4106672" cy="1960880"/>
            <a:chOff x="0" y="0"/>
            <a:chExt cx="5475563" cy="2614507"/>
          </a:xfrm>
        </p:grpSpPr>
        <p:sp>
          <p:nvSpPr>
            <p:cNvPr name="Freeform 15" id="15"/>
            <p:cNvSpPr/>
            <p:nvPr/>
          </p:nvSpPr>
          <p:spPr>
            <a:xfrm flipH="false" flipV="false" rot="0">
              <a:off x="6731" y="6731"/>
              <a:ext cx="5462143" cy="2600960"/>
            </a:xfrm>
            <a:custGeom>
              <a:avLst/>
              <a:gdLst/>
              <a:ahLst/>
              <a:cxnLst/>
              <a:rect r="r" b="b" t="t" l="l"/>
              <a:pathLst>
                <a:path h="2600960" w="5462143">
                  <a:moveTo>
                    <a:pt x="0" y="433578"/>
                  </a:moveTo>
                  <a:cubicBezTo>
                    <a:pt x="0" y="194183"/>
                    <a:pt x="194691" y="0"/>
                    <a:pt x="434721" y="0"/>
                  </a:cubicBezTo>
                  <a:lnTo>
                    <a:pt x="5027422" y="0"/>
                  </a:lnTo>
                  <a:cubicBezTo>
                    <a:pt x="5267452" y="0"/>
                    <a:pt x="5462143" y="194056"/>
                    <a:pt x="5462143" y="433451"/>
                  </a:cubicBezTo>
                  <a:lnTo>
                    <a:pt x="5462143" y="2167509"/>
                  </a:lnTo>
                  <a:cubicBezTo>
                    <a:pt x="5462143" y="2406904"/>
                    <a:pt x="5267579" y="2600960"/>
                    <a:pt x="5027422" y="2600960"/>
                  </a:cubicBezTo>
                  <a:lnTo>
                    <a:pt x="434721" y="2600960"/>
                  </a:lnTo>
                  <a:cubicBezTo>
                    <a:pt x="194691" y="2600960"/>
                    <a:pt x="0" y="2406904"/>
                    <a:pt x="0" y="2167509"/>
                  </a:cubicBezTo>
                  <a:close/>
                </a:path>
              </a:pathLst>
            </a:custGeom>
            <a:solidFill>
              <a:srgbClr val="333333"/>
            </a:solidFill>
          </p:spPr>
        </p:sp>
        <p:sp>
          <p:nvSpPr>
            <p:cNvPr name="Freeform 16" id="16"/>
            <p:cNvSpPr/>
            <p:nvPr/>
          </p:nvSpPr>
          <p:spPr>
            <a:xfrm flipH="false" flipV="false" rot="0">
              <a:off x="0" y="0"/>
              <a:ext cx="5475605" cy="2614549"/>
            </a:xfrm>
            <a:custGeom>
              <a:avLst/>
              <a:gdLst/>
              <a:ahLst/>
              <a:cxnLst/>
              <a:rect r="r" b="b" t="t" l="l"/>
              <a:pathLst>
                <a:path h="2614549" w="5475605">
                  <a:moveTo>
                    <a:pt x="0" y="440309"/>
                  </a:moveTo>
                  <a:cubicBezTo>
                    <a:pt x="0" y="197104"/>
                    <a:pt x="197612" y="0"/>
                    <a:pt x="441452" y="0"/>
                  </a:cubicBezTo>
                  <a:lnTo>
                    <a:pt x="5034153" y="0"/>
                  </a:lnTo>
                  <a:lnTo>
                    <a:pt x="5034153" y="6731"/>
                  </a:lnTo>
                  <a:lnTo>
                    <a:pt x="5034153" y="0"/>
                  </a:lnTo>
                  <a:cubicBezTo>
                    <a:pt x="5277993" y="0"/>
                    <a:pt x="5475605" y="197104"/>
                    <a:pt x="5475605" y="440309"/>
                  </a:cubicBezTo>
                  <a:lnTo>
                    <a:pt x="5468874" y="440309"/>
                  </a:lnTo>
                  <a:lnTo>
                    <a:pt x="5475605" y="440309"/>
                  </a:lnTo>
                  <a:lnTo>
                    <a:pt x="5475605" y="2174240"/>
                  </a:lnTo>
                  <a:lnTo>
                    <a:pt x="5468874" y="2174240"/>
                  </a:lnTo>
                  <a:lnTo>
                    <a:pt x="5475605" y="2174240"/>
                  </a:lnTo>
                  <a:cubicBezTo>
                    <a:pt x="5475605" y="2417445"/>
                    <a:pt x="5277993" y="2614549"/>
                    <a:pt x="5034153" y="2614549"/>
                  </a:cubicBezTo>
                  <a:lnTo>
                    <a:pt x="5034153" y="2607818"/>
                  </a:lnTo>
                  <a:lnTo>
                    <a:pt x="5034153" y="2614549"/>
                  </a:lnTo>
                  <a:lnTo>
                    <a:pt x="441452" y="2614549"/>
                  </a:lnTo>
                  <a:lnTo>
                    <a:pt x="441452" y="2607818"/>
                  </a:lnTo>
                  <a:lnTo>
                    <a:pt x="441452" y="2614549"/>
                  </a:lnTo>
                  <a:cubicBezTo>
                    <a:pt x="197612" y="2614549"/>
                    <a:pt x="0" y="2417445"/>
                    <a:pt x="0" y="2174240"/>
                  </a:cubicBezTo>
                  <a:lnTo>
                    <a:pt x="0" y="440309"/>
                  </a:lnTo>
                  <a:lnTo>
                    <a:pt x="6731" y="440309"/>
                  </a:lnTo>
                  <a:lnTo>
                    <a:pt x="0" y="440309"/>
                  </a:lnTo>
                  <a:moveTo>
                    <a:pt x="13589" y="440309"/>
                  </a:moveTo>
                  <a:lnTo>
                    <a:pt x="13589" y="2174240"/>
                  </a:lnTo>
                  <a:lnTo>
                    <a:pt x="6731" y="2174240"/>
                  </a:lnTo>
                  <a:lnTo>
                    <a:pt x="13462" y="2174240"/>
                  </a:lnTo>
                  <a:cubicBezTo>
                    <a:pt x="13462" y="2409952"/>
                    <a:pt x="204978" y="2600960"/>
                    <a:pt x="441325" y="2600960"/>
                  </a:cubicBezTo>
                  <a:lnTo>
                    <a:pt x="5034153" y="2600960"/>
                  </a:lnTo>
                  <a:cubicBezTo>
                    <a:pt x="5270500" y="2600960"/>
                    <a:pt x="5462016" y="2409952"/>
                    <a:pt x="5462016" y="2174240"/>
                  </a:cubicBezTo>
                  <a:lnTo>
                    <a:pt x="5462016" y="440309"/>
                  </a:lnTo>
                  <a:cubicBezTo>
                    <a:pt x="5462016" y="204597"/>
                    <a:pt x="5270500" y="13589"/>
                    <a:pt x="5034153" y="13589"/>
                  </a:cubicBezTo>
                  <a:lnTo>
                    <a:pt x="441452" y="13589"/>
                  </a:lnTo>
                  <a:lnTo>
                    <a:pt x="441452" y="6731"/>
                  </a:lnTo>
                  <a:lnTo>
                    <a:pt x="441452" y="13462"/>
                  </a:lnTo>
                  <a:cubicBezTo>
                    <a:pt x="205105" y="13462"/>
                    <a:pt x="13589" y="204470"/>
                    <a:pt x="13589" y="440182"/>
                  </a:cubicBezTo>
                  <a:close/>
                </a:path>
              </a:pathLst>
            </a:custGeom>
            <a:solidFill>
              <a:srgbClr val="4A7EBB"/>
            </a:solidFill>
          </p:spPr>
        </p:sp>
      </p:grpSp>
      <p:sp>
        <p:nvSpPr>
          <p:cNvPr name="TextBox 17" id="17"/>
          <p:cNvSpPr txBox="true"/>
          <p:nvPr/>
        </p:nvSpPr>
        <p:spPr>
          <a:xfrm rot="0">
            <a:off x="1066800" y="4387215"/>
            <a:ext cx="3523488" cy="443865"/>
          </a:xfrm>
          <a:prstGeom prst="rect">
            <a:avLst/>
          </a:prstGeom>
        </p:spPr>
        <p:txBody>
          <a:bodyPr anchor="t" rtlCol="false" tIns="0" lIns="0" bIns="0" rIns="0">
            <a:spAutoFit/>
          </a:bodyPr>
          <a:lstStyle/>
          <a:p>
            <a:pPr algn="l">
              <a:lnSpc>
                <a:spcPts val="2304"/>
              </a:lnSpc>
            </a:pPr>
            <a:r>
              <a:rPr lang="en-US" sz="1920" b="true">
                <a:solidFill>
                  <a:srgbClr val="FFFFFF"/>
                </a:solidFill>
                <a:latin typeface="Calibri (MS) Bold"/>
                <a:ea typeface="Calibri (MS) Bold"/>
                <a:cs typeface="Calibri (MS) Bold"/>
                <a:sym typeface="Calibri (MS) Bold"/>
              </a:rPr>
              <a:t>🚀 Perspectives</a:t>
            </a:r>
          </a:p>
        </p:txBody>
      </p:sp>
      <p:sp>
        <p:nvSpPr>
          <p:cNvPr name="TextBox 18" id="18"/>
          <p:cNvSpPr txBox="true"/>
          <p:nvPr/>
        </p:nvSpPr>
        <p:spPr>
          <a:xfrm rot="0">
            <a:off x="1066800" y="4991481"/>
            <a:ext cx="3523488" cy="912495"/>
          </a:xfrm>
          <a:prstGeom prst="rect">
            <a:avLst/>
          </a:prstGeom>
        </p:spPr>
        <p:txBody>
          <a:bodyPr anchor="t" rtlCol="false" tIns="0" lIns="0" bIns="0" rIns="0">
            <a:spAutoFit/>
          </a:bodyPr>
          <a:lstStyle/>
          <a:p>
            <a:pPr algn="l">
              <a:lnSpc>
                <a:spcPts val="1791"/>
              </a:lnSpc>
            </a:pPr>
            <a:r>
              <a:rPr lang="en-US" sz="1493">
                <a:solidFill>
                  <a:srgbClr val="FFFFFF"/>
                </a:solidFill>
                <a:latin typeface="Calibri (MS)"/>
                <a:ea typeface="Calibri (MS)"/>
                <a:cs typeface="Calibri (MS)"/>
                <a:sym typeface="Calibri (MS)"/>
              </a:rPr>
              <a:t>DTW, Random Forest, Deep Learning pour amélioration</a:t>
            </a:r>
          </a:p>
        </p:txBody>
      </p:sp>
      <p:grpSp>
        <p:nvGrpSpPr>
          <p:cNvPr name="Group 19" id="19"/>
          <p:cNvGrpSpPr/>
          <p:nvPr/>
        </p:nvGrpSpPr>
        <p:grpSpPr>
          <a:xfrm rot="0">
            <a:off x="5261864" y="4188968"/>
            <a:ext cx="4106672" cy="1960880"/>
            <a:chOff x="0" y="0"/>
            <a:chExt cx="5475563" cy="2614507"/>
          </a:xfrm>
        </p:grpSpPr>
        <p:sp>
          <p:nvSpPr>
            <p:cNvPr name="Freeform 20" id="20"/>
            <p:cNvSpPr/>
            <p:nvPr/>
          </p:nvSpPr>
          <p:spPr>
            <a:xfrm flipH="false" flipV="false" rot="0">
              <a:off x="6731" y="6731"/>
              <a:ext cx="5462143" cy="2600960"/>
            </a:xfrm>
            <a:custGeom>
              <a:avLst/>
              <a:gdLst/>
              <a:ahLst/>
              <a:cxnLst/>
              <a:rect r="r" b="b" t="t" l="l"/>
              <a:pathLst>
                <a:path h="2600960" w="5462143">
                  <a:moveTo>
                    <a:pt x="0" y="433578"/>
                  </a:moveTo>
                  <a:cubicBezTo>
                    <a:pt x="0" y="194183"/>
                    <a:pt x="194691" y="0"/>
                    <a:pt x="434721" y="0"/>
                  </a:cubicBezTo>
                  <a:lnTo>
                    <a:pt x="5027422" y="0"/>
                  </a:lnTo>
                  <a:cubicBezTo>
                    <a:pt x="5267452" y="0"/>
                    <a:pt x="5462143" y="194056"/>
                    <a:pt x="5462143" y="433451"/>
                  </a:cubicBezTo>
                  <a:lnTo>
                    <a:pt x="5462143" y="2167509"/>
                  </a:lnTo>
                  <a:cubicBezTo>
                    <a:pt x="5462143" y="2406904"/>
                    <a:pt x="5267579" y="2600960"/>
                    <a:pt x="5027422" y="2600960"/>
                  </a:cubicBezTo>
                  <a:lnTo>
                    <a:pt x="434721" y="2600960"/>
                  </a:lnTo>
                  <a:cubicBezTo>
                    <a:pt x="194691" y="2600960"/>
                    <a:pt x="0" y="2406904"/>
                    <a:pt x="0" y="2167509"/>
                  </a:cubicBezTo>
                  <a:close/>
                </a:path>
              </a:pathLst>
            </a:custGeom>
            <a:solidFill>
              <a:srgbClr val="333333"/>
            </a:solidFill>
          </p:spPr>
        </p:sp>
        <p:sp>
          <p:nvSpPr>
            <p:cNvPr name="Freeform 21" id="21"/>
            <p:cNvSpPr/>
            <p:nvPr/>
          </p:nvSpPr>
          <p:spPr>
            <a:xfrm flipH="false" flipV="false" rot="0">
              <a:off x="0" y="0"/>
              <a:ext cx="5475605" cy="2614549"/>
            </a:xfrm>
            <a:custGeom>
              <a:avLst/>
              <a:gdLst/>
              <a:ahLst/>
              <a:cxnLst/>
              <a:rect r="r" b="b" t="t" l="l"/>
              <a:pathLst>
                <a:path h="2614549" w="5475605">
                  <a:moveTo>
                    <a:pt x="0" y="440309"/>
                  </a:moveTo>
                  <a:cubicBezTo>
                    <a:pt x="0" y="197104"/>
                    <a:pt x="197612" y="0"/>
                    <a:pt x="441452" y="0"/>
                  </a:cubicBezTo>
                  <a:lnTo>
                    <a:pt x="5034153" y="0"/>
                  </a:lnTo>
                  <a:lnTo>
                    <a:pt x="5034153" y="6731"/>
                  </a:lnTo>
                  <a:lnTo>
                    <a:pt x="5034153" y="0"/>
                  </a:lnTo>
                  <a:cubicBezTo>
                    <a:pt x="5277993" y="0"/>
                    <a:pt x="5475605" y="197104"/>
                    <a:pt x="5475605" y="440309"/>
                  </a:cubicBezTo>
                  <a:lnTo>
                    <a:pt x="5468874" y="440309"/>
                  </a:lnTo>
                  <a:lnTo>
                    <a:pt x="5475605" y="440309"/>
                  </a:lnTo>
                  <a:lnTo>
                    <a:pt x="5475605" y="2174240"/>
                  </a:lnTo>
                  <a:lnTo>
                    <a:pt x="5468874" y="2174240"/>
                  </a:lnTo>
                  <a:lnTo>
                    <a:pt x="5475605" y="2174240"/>
                  </a:lnTo>
                  <a:cubicBezTo>
                    <a:pt x="5475605" y="2417445"/>
                    <a:pt x="5277993" y="2614549"/>
                    <a:pt x="5034153" y="2614549"/>
                  </a:cubicBezTo>
                  <a:lnTo>
                    <a:pt x="5034153" y="2607818"/>
                  </a:lnTo>
                  <a:lnTo>
                    <a:pt x="5034153" y="2614549"/>
                  </a:lnTo>
                  <a:lnTo>
                    <a:pt x="441452" y="2614549"/>
                  </a:lnTo>
                  <a:lnTo>
                    <a:pt x="441452" y="2607818"/>
                  </a:lnTo>
                  <a:lnTo>
                    <a:pt x="441452" y="2614549"/>
                  </a:lnTo>
                  <a:cubicBezTo>
                    <a:pt x="197612" y="2614549"/>
                    <a:pt x="0" y="2417445"/>
                    <a:pt x="0" y="2174240"/>
                  </a:cubicBezTo>
                  <a:lnTo>
                    <a:pt x="0" y="440309"/>
                  </a:lnTo>
                  <a:lnTo>
                    <a:pt x="6731" y="440309"/>
                  </a:lnTo>
                  <a:lnTo>
                    <a:pt x="0" y="440309"/>
                  </a:lnTo>
                  <a:moveTo>
                    <a:pt x="13589" y="440309"/>
                  </a:moveTo>
                  <a:lnTo>
                    <a:pt x="13589" y="2174240"/>
                  </a:lnTo>
                  <a:lnTo>
                    <a:pt x="6731" y="2174240"/>
                  </a:lnTo>
                  <a:lnTo>
                    <a:pt x="13462" y="2174240"/>
                  </a:lnTo>
                  <a:cubicBezTo>
                    <a:pt x="13462" y="2409952"/>
                    <a:pt x="204978" y="2600960"/>
                    <a:pt x="441325" y="2600960"/>
                  </a:cubicBezTo>
                  <a:lnTo>
                    <a:pt x="5034153" y="2600960"/>
                  </a:lnTo>
                  <a:cubicBezTo>
                    <a:pt x="5270500" y="2600960"/>
                    <a:pt x="5462016" y="2409952"/>
                    <a:pt x="5462016" y="2174240"/>
                  </a:cubicBezTo>
                  <a:lnTo>
                    <a:pt x="5462016" y="440309"/>
                  </a:lnTo>
                  <a:cubicBezTo>
                    <a:pt x="5462016" y="204597"/>
                    <a:pt x="5270500" y="13589"/>
                    <a:pt x="5034153" y="13589"/>
                  </a:cubicBezTo>
                  <a:lnTo>
                    <a:pt x="441452" y="13589"/>
                  </a:lnTo>
                  <a:lnTo>
                    <a:pt x="441452" y="6731"/>
                  </a:lnTo>
                  <a:lnTo>
                    <a:pt x="441452" y="13462"/>
                  </a:lnTo>
                  <a:cubicBezTo>
                    <a:pt x="205105" y="13462"/>
                    <a:pt x="13589" y="204470"/>
                    <a:pt x="13589" y="440182"/>
                  </a:cubicBezTo>
                  <a:close/>
                </a:path>
              </a:pathLst>
            </a:custGeom>
            <a:solidFill>
              <a:srgbClr val="4A7EBB"/>
            </a:solidFill>
          </p:spPr>
        </p:sp>
      </p:grpSp>
      <p:sp>
        <p:nvSpPr>
          <p:cNvPr name="TextBox 22" id="22"/>
          <p:cNvSpPr txBox="true"/>
          <p:nvPr/>
        </p:nvSpPr>
        <p:spPr>
          <a:xfrm rot="0">
            <a:off x="5553456" y="4387215"/>
            <a:ext cx="3523488" cy="443865"/>
          </a:xfrm>
          <a:prstGeom prst="rect">
            <a:avLst/>
          </a:prstGeom>
        </p:spPr>
        <p:txBody>
          <a:bodyPr anchor="t" rtlCol="false" tIns="0" lIns="0" bIns="0" rIns="0">
            <a:spAutoFit/>
          </a:bodyPr>
          <a:lstStyle/>
          <a:p>
            <a:pPr algn="l">
              <a:lnSpc>
                <a:spcPts val="2304"/>
              </a:lnSpc>
            </a:pPr>
            <a:r>
              <a:rPr lang="en-US" sz="1920" b="true">
                <a:solidFill>
                  <a:srgbClr val="FFFFFF"/>
                </a:solidFill>
                <a:latin typeface="Calibri (MS) Bold"/>
                <a:ea typeface="Calibri (MS) Bold"/>
                <a:cs typeface="Calibri (MS) Bold"/>
                <a:sym typeface="Calibri (MS) Bold"/>
              </a:rPr>
              <a:t>💼 Déploiement</a:t>
            </a:r>
          </a:p>
        </p:txBody>
      </p:sp>
      <p:sp>
        <p:nvSpPr>
          <p:cNvPr name="TextBox 23" id="23"/>
          <p:cNvSpPr txBox="true"/>
          <p:nvPr/>
        </p:nvSpPr>
        <p:spPr>
          <a:xfrm rot="0">
            <a:off x="5553456" y="4991481"/>
            <a:ext cx="3523488" cy="912495"/>
          </a:xfrm>
          <a:prstGeom prst="rect">
            <a:avLst/>
          </a:prstGeom>
        </p:spPr>
        <p:txBody>
          <a:bodyPr anchor="t" rtlCol="false" tIns="0" lIns="0" bIns="0" rIns="0">
            <a:spAutoFit/>
          </a:bodyPr>
          <a:lstStyle/>
          <a:p>
            <a:pPr algn="l">
              <a:lnSpc>
                <a:spcPts val="1791"/>
              </a:lnSpc>
            </a:pPr>
            <a:r>
              <a:rPr lang="en-US" sz="1493">
                <a:solidFill>
                  <a:srgbClr val="FFFFFF"/>
                </a:solidFill>
                <a:latin typeface="Calibri (MS)"/>
                <a:ea typeface="Calibri (MS)"/>
                <a:cs typeface="Calibri (MS)"/>
                <a:sym typeface="Calibri (MS)"/>
              </a:rPr>
              <a:t>Prêt pour POC industriel avec monitoring fausses alarmes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333333"/>
        </a:solidFill>
      </p:bgPr>
    </p:bg>
    <p:spTree>
      <p:nvGrpSpPr>
        <p:cNvPr id="1" name=""/>
        <p:cNvGrpSpPr/>
        <p:nvPr/>
      </p:nvGrpSpPr>
      <p:grpSpPr>
        <a:xfrm>
          <a:off x="0" y="0"/>
          <a:ext cx="0" cy="0"/>
          <a:chOff x="0" y="0"/>
          <a:chExt cx="0" cy="0"/>
        </a:xfrm>
      </p:grpSpPr>
      <p:sp>
        <p:nvSpPr>
          <p:cNvPr name="TextBox 2" id="2"/>
          <p:cNvSpPr txBox="true"/>
          <p:nvPr/>
        </p:nvSpPr>
        <p:spPr>
          <a:xfrm rot="0">
            <a:off x="91440" y="2388870"/>
            <a:ext cx="9570720" cy="1466850"/>
          </a:xfrm>
          <a:prstGeom prst="rect">
            <a:avLst/>
          </a:prstGeom>
        </p:spPr>
        <p:txBody>
          <a:bodyPr anchor="t" rtlCol="false" tIns="0" lIns="0" bIns="0" rIns="0">
            <a:spAutoFit/>
          </a:bodyPr>
          <a:lstStyle/>
          <a:p>
            <a:pPr algn="ctr">
              <a:lnSpc>
                <a:spcPts val="5631"/>
              </a:lnSpc>
            </a:pPr>
            <a:r>
              <a:rPr lang="en-US" sz="4693" b="true">
                <a:solidFill>
                  <a:srgbClr val="FFFFFF"/>
                </a:solidFill>
                <a:latin typeface="Calibri (MS) Bold"/>
                <a:ea typeface="Calibri (MS) Bold"/>
                <a:cs typeface="Calibri (MS) Bold"/>
                <a:sym typeface="Calibri (MS) Bold"/>
              </a:rPr>
              <a:t>Merci de votre attention</a:t>
            </a:r>
          </a:p>
        </p:txBody>
      </p:sp>
      <p:sp>
        <p:nvSpPr>
          <p:cNvPr name="TextBox 3" id="3"/>
          <p:cNvSpPr txBox="true"/>
          <p:nvPr/>
        </p:nvSpPr>
        <p:spPr>
          <a:xfrm rot="0">
            <a:off x="91440" y="4349115"/>
            <a:ext cx="9570720" cy="969645"/>
          </a:xfrm>
          <a:prstGeom prst="rect">
            <a:avLst/>
          </a:prstGeom>
        </p:spPr>
        <p:txBody>
          <a:bodyPr anchor="t" rtlCol="false" tIns="0" lIns="0" bIns="0" rIns="0">
            <a:spAutoFit/>
          </a:bodyPr>
          <a:lstStyle/>
          <a:p>
            <a:pPr algn="ctr">
              <a:lnSpc>
                <a:spcPts val="4608"/>
              </a:lnSpc>
            </a:pPr>
            <a:r>
              <a:rPr lang="en-US" sz="3840">
                <a:solidFill>
                  <a:srgbClr val="FFFFFF"/>
                </a:solidFill>
                <a:latin typeface="Calibri (MS)"/>
                <a:ea typeface="Calibri (MS)"/>
                <a:cs typeface="Calibri (MS)"/>
                <a:sym typeface="Calibri (MS)"/>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DAG08kgxNrg</dc:identifier>
  <dcterms:modified xsi:type="dcterms:W3CDTF">2011-08-01T06:04:30Z</dcterms:modified>
  <cp:revision>1</cp:revision>
  <dc:title>presentation_knn_csth_enhanced.pptx</dc:title>
</cp:coreProperties>
</file>